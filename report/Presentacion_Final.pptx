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bf5d3fe0-6fb3-ab90-9437-78c2740f10ba}">
          <p14:sldIdLst>
            <p14:sldId id="256"/>
            <p14:sldId id="257"/>
            <p14:sldId id="258"/>
          </p14:sldIdLst>
        </p14:section>
        <p14:section name="Arquitectura" id="{a4943e26-3c99-9c09-13ae-6360c946e3aa}">
          <p14:sldIdLst>
            <p14:sldId id="259"/>
          </p14:sldIdLst>
        </p14:section>
        <p14:section name="Etapas" id="{fc972e2b-e9e3-2af6-78db-8da38a6a0208}">
          <p14:sldIdLst>
            <p14:sldId id="260"/>
            <p14:sldId id="261"/>
            <p14:sldId id="262"/>
            <p14:sldId id="263"/>
            <p14:sldId id="264"/>
          </p14:sldIdLst>
        </p14:section>
        <p14:section name="Resultados" id="{778f1b7d-13c1-4b21-798e-d7ca68e83c64}">
          <p14:sldIdLst>
            <p14:sldId id="265"/>
            <p14:sldId id="266"/>
            <p14:sldId id="267"/>
          </p14:sldIdLst>
        </p14:section>
        <p14:section name="Cierre" id="{5fafd4f3-1e53-5137-9f47-f40b785f8366}">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Memoria de la lista negra (MB, escala log)</a:t>
            </a:r>
          </a:p>
        </c:rich>
      </c:tx>
      <c:layout/>
      <c:overlay val="0"/>
    </c:title>
    <c:autoTitleDeleted val="0"/>
    <c:plotArea>
      <c:layout/>
      <c:barChart>
        <c:barDir val="col"/>
        <c:grouping val="clustered"/>
        <c:varyColors val="0"/>
        <c:ser>
          <c:idx val="0"/>
          <c:order val="0"/>
          <c:tx>
            <c:strRef>
              <c:f>Sheet1!$B$1</c:f>
              <c:strCache>
                <c:ptCount val="1"/>
                <c:pt idx="0">
                  <c:v>Bloom p = 1 %</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1,000</c:v>
                  </c:pt>
                  <c:pt idx="1">
                    <c:v>10,000</c:v>
                  </c:pt>
                  <c:pt idx="2">
                    <c:v>100,000</c:v>
                  </c:pt>
                  <c:pt idx="3">
                    <c:v>1,000,000</c:v>
                  </c:pt>
                  <c:pt idx="4">
                    <c:v>10,000,000</c:v>
                  </c:pt>
                </c:lvl>
              </c:multiLvlStrCache>
            </c:multiLvlStrRef>
          </c:cat>
          <c:val>
            <c:numRef>
              <c:f>Sheet1!$B$2:$B$6</c:f>
              <c:numCache>
                <c:formatCode>General</c:formatCode>
                <c:ptCount val="5"/>
                <c:pt idx="0">
                  <c:v>0.0012</c:v>
                </c:pt>
                <c:pt idx="1">
                  <c:v>0.012</c:v>
                </c:pt>
                <c:pt idx="2">
                  <c:v>0.12</c:v>
                </c:pt>
                <c:pt idx="3">
                  <c:v>1.2</c:v>
                </c:pt>
                <c:pt idx="4">
                  <c:v>12</c:v>
                </c:pt>
              </c:numCache>
            </c:numRef>
          </c:val>
        </c:ser>
        <c:ser>
          <c:idx val="1"/>
          <c:order val="1"/>
          <c:tx>
            <c:strRef>
              <c:f>Sheet1!$C$1</c:f>
              <c:strCache>
                <c:ptCount val="1"/>
                <c:pt idx="0">
                  <c:v>HashSet exacto</c:v>
                </c:pt>
              </c:strCache>
            </c:strRef>
          </c:tx>
          <c:spPr>
            <a:solidFill>
              <a:srgbClr val="C9C4B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1,000</c:v>
                  </c:pt>
                  <c:pt idx="1">
                    <c:v>10,000</c:v>
                  </c:pt>
                  <c:pt idx="2">
                    <c:v>100,000</c:v>
                  </c:pt>
                  <c:pt idx="3">
                    <c:v>1,000,000</c:v>
                  </c:pt>
                  <c:pt idx="4">
                    <c:v>10,000,000</c:v>
                  </c:pt>
                </c:lvl>
              </c:multiLvlStrCache>
            </c:multiLvlStrRef>
          </c:cat>
          <c:val>
            <c:numRef>
              <c:f>Sheet1!$C$2:$C$6</c:f>
              <c:numCache>
                <c:formatCode>General</c:formatCode>
                <c:ptCount val="5"/>
                <c:pt idx="0">
                  <c:v>0.0336</c:v>
                </c:pt>
                <c:pt idx="1">
                  <c:v>0.263</c:v>
                </c:pt>
                <c:pt idx="2">
                  <c:v>4.2</c:v>
                </c:pt>
                <c:pt idx="3">
                  <c:v>33.6</c:v>
                </c:pt>
                <c:pt idx="4">
                  <c:v>268</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elementos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F5C"/>
                </a:solidFill>
                <a:latin typeface="+mn-lt"/>
              </a:defRPr>
            </a:pPr>
            <a:endParaRPr lang="en-US"/>
          </a:p>
        </c:txPr>
        <c:crossAx val="2094734552"/>
        <c:crosses val="autoZero"/>
        <c:auto val="1"/>
        <c:lblAlgn val="ctr"/>
        <c:noMultiLvlLbl val="1"/>
      </c:catAx>
      <c:valAx>
        <c:axId val="2094734552"/>
        <c:scaling>
          <c:logBase val="10"/>
          <c:orientation val="minMax"/>
        </c:scaling>
        <c:delete val="0"/>
        <c:axPos val="l"/>
        <c:majorGridlines>
          <c:spPr>
            <a:ln w="635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3F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Tiempo por consulta Top-10 (ms, escala log)</a:t>
            </a:r>
          </a:p>
        </c:rich>
      </c:tx>
      <c:layout/>
      <c:overlay val="0"/>
    </c:title>
    <c:autoTitleDeleted val="0"/>
    <c:plotArea>
      <c:layout/>
      <c:barChart>
        <c:barDir val="col"/>
        <c:grouping val="clustered"/>
        <c:varyColors val="0"/>
        <c:ser>
          <c:idx val="0"/>
          <c:order val="0"/>
          <c:tx>
            <c:strRef>
              <c:f>Sheet1!$B$1</c:f>
              <c:strCache>
                <c:ptCount val="1"/>
                <c:pt idx="0">
                  <c:v>MinHash + LSH</c:v>
                </c:pt>
              </c:strCache>
            </c:strRef>
          </c:tx>
          <c:spPr>
            <a:solidFill>
              <a:srgbClr val="6250D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1,000</c:v>
                  </c:pt>
                  <c:pt idx="1">
                    <c:v>10,000</c:v>
                  </c:pt>
                  <c:pt idx="2">
                    <c:v>100,000</c:v>
                  </c:pt>
                  <c:pt idx="3">
                    <c:v>1,000,000</c:v>
                  </c:pt>
                </c:lvl>
              </c:multiLvlStrCache>
            </c:multiLvlStrRef>
          </c:cat>
          <c:val>
            <c:numRef>
              <c:f>Sheet1!$B$2:$B$5</c:f>
              <c:numCache>
                <c:formatCode>General</c:formatCode>
                <c:ptCount val="4"/>
                <c:pt idx="0">
                  <c:v>0.52</c:v>
                </c:pt>
                <c:pt idx="1">
                  <c:v>0.58</c:v>
                </c:pt>
                <c:pt idx="2">
                  <c:v>0.62</c:v>
                </c:pt>
                <c:pt idx="3">
                  <c:v>0.76</c:v>
                </c:pt>
              </c:numCache>
            </c:numRef>
          </c:val>
        </c:ser>
        <c:ser>
          <c:idx val="1"/>
          <c:order val="1"/>
          <c:tx>
            <c:strRef>
              <c:f>Sheet1!$C$1</c:f>
              <c:strCache>
                <c:ptCount val="1"/>
                <c:pt idx="0">
                  <c:v>Fuerza bruta</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1,000</c:v>
                  </c:pt>
                  <c:pt idx="1">
                    <c:v>10,000</c:v>
                  </c:pt>
                  <c:pt idx="2">
                    <c:v>100,000</c:v>
                  </c:pt>
                  <c:pt idx="3">
                    <c:v>1,000,000</c:v>
                  </c:pt>
                </c:lvl>
              </c:multiLvlStrCache>
            </c:multiLvlStrRef>
          </c:cat>
          <c:val>
            <c:numRef>
              <c:f>Sheet1!$C$2:$C$5</c:f>
              <c:numCache>
                <c:formatCode>General</c:formatCode>
                <c:ptCount val="4"/>
                <c:pt idx="0">
                  <c:v>0.23</c:v>
                </c:pt>
                <c:pt idx="1">
                  <c:v>1.75</c:v>
                </c:pt>
                <c:pt idx="2">
                  <c:v>21.23</c:v>
                </c:pt>
                <c:pt idx="3">
                  <c:v>225.09</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conjuntos indexados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F5C"/>
                </a:solidFill>
                <a:latin typeface="+mn-lt"/>
              </a:defRPr>
            </a:pPr>
            <a:endParaRPr lang="en-US"/>
          </a:p>
        </c:txPr>
        <c:crossAx val="2094734552"/>
        <c:crosses val="autoZero"/>
        <c:auto val="1"/>
        <c:lblAlgn val="ctr"/>
        <c:noMultiLvlLbl val="1"/>
      </c:catAx>
      <c:valAx>
        <c:axId val="2094734552"/>
        <c:scaling>
          <c:logBase val="10"/>
          <c:orientation val="minMax"/>
        </c:scaling>
        <c:delete val="0"/>
        <c:axPos val="l"/>
        <c:majorGridlines>
          <c:spPr>
            <a:ln w="635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3F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Modularidad Q (más alto es mejor)</a:t>
            </a:r>
          </a:p>
        </c:rich>
      </c:tx>
      <c:layout/>
      <c:overlay val="0"/>
    </c:title>
    <c:autoTitleDeleted val="0"/>
    <c:plotArea>
      <c:layout/>
      <c:barChart>
        <c:barDir val="col"/>
        <c:grouping val="clustered"/>
        <c:varyColors val="0"/>
        <c:ser>
          <c:idx val="0"/>
          <c:order val="0"/>
          <c:tx>
            <c:strRef>
              <c:f>Sheet1!$B$1</c:f>
              <c:strCache>
                <c:ptCount val="1"/>
                <c:pt idx="0">
                  <c:v>Louvain</c:v>
                </c:pt>
              </c:strCache>
            </c:strRef>
          </c:tx>
          <c:spPr>
            <a:solidFill>
              <a:srgbClr val="E87BA4"/>
            </a:solidFill>
            <a:effectLst/>
          </c:spPr>
          <c:invertIfNegative val="0"/>
          <c:dLbls>
            <c:numFmt formatCode="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Pipeline 10M</c:v>
                  </c:pt>
                  <c:pt idx="1">
                    <c:v>Grafo plantado 1.0M aristas</c:v>
                  </c:pt>
                </c:lvl>
              </c:multiLvlStrCache>
            </c:multiLvlStrRef>
          </c:cat>
          <c:val>
            <c:numRef>
              <c:f>Sheet1!$B$2:$B$3</c:f>
              <c:numCache>
                <c:formatCode>General</c:formatCode>
                <c:ptCount val="2"/>
                <c:pt idx="0">
                  <c:v>0.916</c:v>
                </c:pt>
                <c:pt idx="1">
                  <c:v>0.781</c:v>
                </c:pt>
              </c:numCache>
            </c:numRef>
          </c:val>
        </c:ser>
        <c:ser>
          <c:idx val="1"/>
          <c:order val="1"/>
          <c:tx>
            <c:strRef>
              <c:f>Sheet1!$C$1</c:f>
              <c:strCache>
                <c:ptCount val="1"/>
                <c:pt idx="0">
                  <c:v>Label Propagation</c:v>
                </c:pt>
              </c:strCache>
            </c:strRef>
          </c:tx>
          <c:spPr>
            <a:solidFill>
              <a:srgbClr val="C9C4B8"/>
            </a:solidFill>
            <a:effectLst/>
          </c:spPr>
          <c:invertIfNegative val="0"/>
          <c:dLbls>
            <c:numFmt formatCode="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Pipeline 10M</c:v>
                  </c:pt>
                  <c:pt idx="1">
                    <c:v>Grafo plantado 1.0M aristas</c:v>
                  </c:pt>
                </c:lvl>
              </c:multiLvlStrCache>
            </c:multiLvlStrRef>
          </c:cat>
          <c:val>
            <c:numRef>
              <c:f>Sheet1!$C$2:$C$3</c:f>
              <c:numCache>
                <c:formatCode>General</c:formatCode>
                <c:ptCount val="2"/>
                <c:pt idx="0">
                  <c:v>0.894</c:v>
                </c:pt>
                <c:pt idx="1">
                  <c:v>0.75</c:v>
                </c:pt>
              </c:numCache>
            </c:numRef>
          </c:val>
        </c:ser>
        <c:dLbls>
          <c:numFmt formatCode="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F5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3F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Tiempo total por etapa (s)</a:t>
            </a:r>
          </a:p>
        </c:rich>
      </c:tx>
      <c:layout/>
      <c:overlay val="0"/>
    </c:title>
    <c:autoTitleDeleted val="0"/>
    <c:plotArea>
      <c:layout/>
      <c:barChart>
        <c:barDir val="bar"/>
        <c:grouping val="clustered"/>
        <c:varyColors val="0"/>
        <c:ser>
          <c:idx val="0"/>
          <c:order val="0"/>
          <c:tx>
            <c:strRef>
              <c:f>Sheet1!$B$1</c:f>
              <c:strCache>
                <c:ptCount val="1"/>
                <c:pt idx="0">
                  <c:v>segundos</c:v>
                </c:pt>
              </c:strCache>
            </c:strRef>
          </c:tx>
          <c:spPr>
            <a:solidFill>
              <a:srgbClr val="2A78D6"/>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Sheet1!$A$2:$A$15</c:f>
              <c:multiLvlStrCache>
                <c:ptCount val="14"/>
                <c:lvl>
                  <c:pt idx="0">
                    <c:v>S7 similitud</c:v>
                  </c:pt>
                  <c:pt idx="1">
                    <c:v>S5 KD-Tree</c:v>
                  </c:pt>
                  <c:pt idx="2">
                    <c:v>S8 grafo</c:v>
                  </c:pt>
                  <c:pt idx="3">
                    <c:v>S5 refresco KD-Tree</c:v>
                  </c:pt>
                  <c:pt idx="4">
                    <c:v>S4 B+Tree</c:v>
                  </c:pt>
                  <c:pt idx="5">
                    <c:v>S9 servicio</c:v>
                  </c:pt>
                  <c:pt idx="6">
                    <c:v>S8 refresco PageRank+Louvain</c:v>
                  </c:pt>
                  <c:pt idx="7">
                    <c:v>S3 almacenamiento</c:v>
                  </c:pt>
                  <c:pt idx="8">
                    <c:v>S3 interacciones</c:v>
                  </c:pt>
                  <c:pt idx="9">
                    <c:v>S1 preprocesamiento</c:v>
                  </c:pt>
                  <c:pt idx="10">
                    <c:v>S2 prioridad</c:v>
                  </c:pt>
                  <c:pt idx="11">
                    <c:v>S6 filtrado</c:v>
                  </c:pt>
                  <c:pt idx="12">
                    <c:v>S0 ingesta</c:v>
                  </c:pt>
                  <c:pt idx="13">
                    <c:v>S7 refresco LSH+IVF</c:v>
                  </c:pt>
                </c:lvl>
              </c:multiLvlStrCache>
            </c:multiLvlStrRef>
          </c:cat>
          <c:val>
            <c:numRef>
              <c:f>Sheet1!$B$2:$B$15</c:f>
              <c:numCache>
                <c:formatCode>General</c:formatCode>
                <c:ptCount val="14"/>
                <c:pt idx="0">
                  <c:v>0.2</c:v>
                </c:pt>
                <c:pt idx="1">
                  <c:v>0.4</c:v>
                </c:pt>
                <c:pt idx="2">
                  <c:v>1.9</c:v>
                </c:pt>
                <c:pt idx="3">
                  <c:v>4</c:v>
                </c:pt>
                <c:pt idx="4">
                  <c:v>4.8</c:v>
                </c:pt>
                <c:pt idx="5">
                  <c:v>5.7</c:v>
                </c:pt>
                <c:pt idx="6">
                  <c:v>20.8</c:v>
                </c:pt>
                <c:pt idx="7">
                  <c:v>28.1</c:v>
                </c:pt>
                <c:pt idx="8">
                  <c:v>53.1</c:v>
                </c:pt>
                <c:pt idx="9">
                  <c:v>63.7</c:v>
                </c:pt>
                <c:pt idx="10">
                  <c:v>78.1</c:v>
                </c:pt>
                <c:pt idx="11">
                  <c:v>86.8</c:v>
                </c:pt>
                <c:pt idx="12">
                  <c:v>244.4</c:v>
                </c:pt>
                <c:pt idx="13">
                  <c:v>781.1</c:v>
                </c:pt>
              </c:numCache>
            </c:numRef>
          </c:val>
        </c:ser>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A3F5C"/>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3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A3F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Dante. Buenas tardes. Construimos un pipeline de 10 etapas que procesa 10 millones de eventos de una tienda en línea. Cada etapa usa la estructura de datos adecuada y su salida alimenta a la siguiente. En 15 minutos veremos el problema, la arquitectura, cada familia de estructuras, la escalabilidad y una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Dante. El escenario B es comercio electrónico. Hay cuatro necesidades y cada una pide una estructura distinta. Lo importante es que no son módulos sueltos: un evento entra por la cola y su recorrido termina en una recomendación. Además, cada estructura aproximada se compara con la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Dante. Usamos el esquema de REES46. Encima agregamos lo que el dataset no trae y que el enunciado pide simular: dispositivo, tarjeta, tipo de envío, duplicados y ráfagas de fraude. Las etiquetas de fraude y duplicado solo se usan para medir precisión y recall, nunca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Dante. Este es el flujo. El filtrado S6 corre justo después de resolver ids en S3, de modo que lo bloqueado no contamina índices, similitud ni grafo. Las estructuras costosas se reconstruyen por lotes cada 2 millones de eventos, como una arquitectura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Sebastian. S0 es una cola enlazada con capacidad, que da backpressure. S1 elimina duplicados buscando cada id en una ventana ordenada con búsqueda binaria, sin guardar todos los ids. S2 es un heap: las compras express salen primero. Las pendientes medidas están cerca de lo esperado.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Dante. S3 resuelve ids en una tabla hash propia y cachea con LRU. La matriz dispersa usuario por producto alimenta a S7. S4 es un B+Tree real en disco con páginas de 4 KB: con 10 millones de claves tiene altura 3, así que una búsqueda lee 3 páginas. S5 es un KD-Tree: con 10 millones de puntos responde KNN en menos de un milisegundo, contra casi 400 ms de fuerza bruta.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Clinton. El Bloom guarda la lista negra en pocos kilobytes y no tiene falsos negativos. Como un falso positivo bloquearía una compra legítima, cada positivo se verifica contra el conjunto exacto. El Count-Min cuenta intentos por tarjeta en una ventana deslizante de 10 minutos; nunca subestima, así que no oculta una ráfaga. El recall es 91 % porque los primeros intentos de cada ráfaga pasan antes de llegar al umbral.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Ronald. MinHash estima Jaccard entre conjuntos de compradores, y LSH por bandas evita comparar contra todos: una consulta son dos búsquedas binarias sobre un arreglo ordenado. La ganancia crece con n porque fuerza bruta es lineal. Para vectores usamos IVF sobre embeddings SVD; HNSW quedó como referencia por su costo de construcción en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Clinton. El grafo une productos que aparecen en la misma orden. PageRank converge en menos de un segundo sobre el grafo de la corrida completa. En comunidades, Louvain obtiene mayor modularidad y es más estable entre semillas que Label Propagation, a cambio de más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Ronald. Medimos de mil a diez millones en escala log-log. Una pendiente cercana a 1 es lineal; merge sort y heap quedan algo arriba por el factor log n. La búsqueda en el B+Tree y el KNN del KD-Tree casi no crecen con n, mientras fuerza bruta es lineal. Las repeticiones bajan con n por tiempo de cómputo, y el informe lo justifica.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Sebastian. Demo en vivo de 3 a 4 minutos: python scripts/run_pipeline.py --data data/synthetic_200000 y luego el panel con streamlit run src/eda/service/dashboard.py. A la izquierda está la traza literal de una compra de la corrida de 10M: entra a la cola, pasa la limpieza, sale tercera del heap, se resuelve en la tabla hash, pasa el filtro, se indexa en el B+Tree y termina en recomendaciones que combinan grafo, IVF y KD-Tree.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Ronald. Corrimos los 10 millones de eventos de punta a punta. El gráfico muestra dónde se va el tiempo: la ingesta y el refresco de similitud son lo más caro; las estructuras de consulta como el B+Tree o el KD-Tree cuestan segundos. Esto nos dice qué optimizar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Clinton. Cerramos con cuatro ideas: la integración es observable de punta a punta, las estructuras probabilísticas ganan en memoria y tiempo con error controlado, las mediciones confirman la complejidad teórica, y el siguiente paso es correr sobre el dataset real y paralelizar el refresco de similitud.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840480"/>
            <a:ext cx="10698480" cy="20116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Proyecto Final EDA 2026-2 · Escenario B: comercio electrónico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000" b="1" dirty="0">
                <a:solidFill>
                  <a:schemeClr val="bg1"/>
                </a:solidFill>
              </a:rPr>
              <a:t>Diez estructuras de datos en cadena para el stream de una tienda en línea</a:t>
            </a:r>
            <a:endParaRPr lang="en-US" sz="4000" dirty="0"/>
          </a:p>
        </p:txBody>
      </p:sp>
      <p:sp>
        <p:nvSpPr>
          <p:cNvPr id="3" name="Text 0"/>
          <p:cNvSpPr/>
          <p:nvPr>
            <p:ph idx="101" type="body" hasCustomPrompt="1"/>
          </p:nvPr>
        </p:nvSpPr>
        <p:spPr>
          <a:xfrm>
            <a:off x="731520" y="3840480"/>
            <a:ext cx="10698480" cy="2011680"/>
          </a:xfrm>
          <a:prstGeom prst="rect">
            <a:avLst/>
          </a:prstGeom>
          <a:noFill/>
          <a:ln/>
        </p:spPr>
        <p:txBody>
          <a:bodyPr wrap="square" lIns="0" tIns="0" rIns="0" bIns="0" rtlCol="0" anchor="t"/>
          <a:lstStyle/>
          <a:p>
            <a:pPr indent="0" marL="0">
              <a:buNone/>
            </a:pPr>
            <a:r>
              <a:rPr lang="en-US" sz="1600" dirty="0">
                <a:solidFill>
                  <a:schemeClr val="accent6"/>
                </a:solidFill>
              </a:rPr>
              <a:t>Proyecto Final · Estructuras de Datos y Algoritmos 2026-2 · UTEC</a:t>
            </a:r>
            <a:endParaRPr lang="en-US" sz="1600" dirty="0"/>
          </a:p>
          <a:p>
            <a:pPr indent="0" marL="0">
              <a:buNone/>
            </a:pPr>
            <a:r>
              <a:rPr lang="en-US" sz="1600" dirty="0">
                <a:solidFill>
                  <a:schemeClr val="accent6"/>
                </a:solidFill>
              </a:rPr>
              <a:t>Sebastian Garcia · Dante Barreto · Clinton Chulluncuy · Ronald Hilario</a:t>
            </a:r>
            <a:endParaRPr lang="en-US" sz="1600" dirty="0"/>
          </a:p>
          <a:p>
            <a:pPr indent="0" marL="0">
              <a:buNone/>
            </a:pPr>
            <a:r>
              <a:rPr lang="en-US" sz="1600" dirty="0">
                <a:solidFill>
                  <a:schemeClr val="accent6"/>
                </a:solidFill>
              </a:rPr>
              <a:t>29 de octubre de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Cuatro necesidades del negocio, cada una con su estructura</a:t>
            </a:r>
            <a:endParaRPr lang="en-US" sz="2800" dirty="0"/>
          </a:p>
        </p:txBody>
      </p:sp>
      <p:sp>
        <p:nvSpPr>
          <p:cNvPr id="3" name="necesidad 1"/>
          <p:cNvSpPr/>
          <p:nvPr/>
        </p:nvSpPr>
        <p:spPr>
          <a:xfrm>
            <a:off x="548640" y="1463040"/>
            <a:ext cx="2606040" cy="3291840"/>
          </a:xfrm>
          <a:prstGeom prst="roundRect">
            <a:avLst>
              <a:gd name="adj" fmla="val 2807"/>
            </a:avLst>
          </a:prstGeom>
          <a:solidFill>
            <a:schemeClr val="bg2"/>
          </a:solidFill>
          <a:ln w="12700">
            <a:solidFill>
              <a:schemeClr val="bg2"/>
            </a:solidFill>
            <a:prstDash val="solid"/>
          </a:ln>
        </p:spPr>
      </p:sp>
      <p:pic>
        <p:nvPicPr>
          <p:cNvPr id="4" name="Image 0" descr="Atender primero lo urgente">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822960" y="2468880"/>
            <a:ext cx="210312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Atender primero lo urgente</a:t>
            </a:r>
            <a:endParaRPr lang="en-US" sz="1700" dirty="0"/>
          </a:p>
        </p:txBody>
      </p:sp>
      <p:sp>
        <p:nvSpPr>
          <p:cNvPr id="6" name="Text 3"/>
          <p:cNvSpPr txBox="1"/>
          <p:nvPr/>
        </p:nvSpPr>
        <p:spPr>
          <a:xfrm>
            <a:off x="822960" y="3291840"/>
            <a:ext cx="2103120" cy="1280160"/>
          </a:xfrm>
          <a:prstGeom prst="rect">
            <a:avLst/>
          </a:prstGeom>
          <a:noFill/>
          <a:ln/>
        </p:spPr>
        <p:txBody>
          <a:bodyPr wrap="square" lIns="0" tIns="0" rIns="0" bIns="0" rtlCol="0" anchor="t"/>
          <a:lstStyle/>
          <a:p>
            <a:pPr indent="0" marL="0">
              <a:buNone/>
            </a:pPr>
            <a:r>
              <a:rPr lang="en-US" sz="1300" dirty="0">
                <a:solidFill>
                  <a:schemeClr val="tx2"/>
                </a:solidFill>
              </a:rPr>
              <a:t>Compras express antes que vistas: cola FIFO y heap de prioridad</a:t>
            </a:r>
            <a:endParaRPr lang="en-US" sz="1300" dirty="0"/>
          </a:p>
        </p:txBody>
      </p:sp>
      <p:sp>
        <p:nvSpPr>
          <p:cNvPr id="7" name="necesidad 2"/>
          <p:cNvSpPr/>
          <p:nvPr/>
        </p:nvSpPr>
        <p:spPr>
          <a:xfrm>
            <a:off x="3364992" y="1463040"/>
            <a:ext cx="2606040" cy="3291840"/>
          </a:xfrm>
          <a:prstGeom prst="roundRect">
            <a:avLst>
              <a:gd name="adj" fmla="val 2807"/>
            </a:avLst>
          </a:prstGeom>
          <a:solidFill>
            <a:schemeClr val="bg2"/>
          </a:solidFill>
          <a:ln w="12700">
            <a:solidFill>
              <a:schemeClr val="bg2"/>
            </a:solidFill>
            <a:prstDash val="solid"/>
          </a:ln>
        </p:spPr>
      </p:sp>
      <p:pic>
        <p:nvPicPr>
          <p:cNvPr id="8" name="Image 1" descr="Responder en microsegundos">    </p:cNvPr>
          <p:cNvPicPr>
            <a:picLocks noChangeAspect="1"/>
          </p:cNvPicPr>
          <p:nvPr/>
        </p:nvPicPr>
        <p:blipFill>
          <a:blip r:embed="rId2"/>
          <a:stretch>
            <a:fillRect/>
          </a:stretch>
        </p:blipFill>
        <p:spPr>
          <a:xfrm>
            <a:off x="3639312" y="1737360"/>
            <a:ext cx="548640" cy="548640"/>
          </a:xfrm>
          <a:prstGeom prst="rect">
            <a:avLst/>
          </a:prstGeom>
        </p:spPr>
      </p:pic>
      <p:sp>
        <p:nvSpPr>
          <p:cNvPr id="9" name="Text 5"/>
          <p:cNvSpPr txBox="1"/>
          <p:nvPr/>
        </p:nvSpPr>
        <p:spPr>
          <a:xfrm>
            <a:off x="3639312" y="2468880"/>
            <a:ext cx="210312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Responder en microsegundos</a:t>
            </a:r>
            <a:endParaRPr lang="en-US" sz="1700" dirty="0"/>
          </a:p>
        </p:txBody>
      </p:sp>
      <p:sp>
        <p:nvSpPr>
          <p:cNvPr id="10" name="Text 6"/>
          <p:cNvSpPr txBox="1"/>
          <p:nvPr/>
        </p:nvSpPr>
        <p:spPr>
          <a:xfrm>
            <a:off x="3639312" y="3291840"/>
            <a:ext cx="2103120" cy="1280160"/>
          </a:xfrm>
          <a:prstGeom prst="rect">
            <a:avLst/>
          </a:prstGeom>
          <a:noFill/>
          <a:ln/>
        </p:spPr>
        <p:txBody>
          <a:bodyPr wrap="square" lIns="0" tIns="0" rIns="0" bIns="0" rtlCol="0" anchor="t"/>
          <a:lstStyle/>
          <a:p>
            <a:pPr indent="0" marL="0">
              <a:buNone/>
            </a:pPr>
            <a:r>
              <a:rPr lang="en-US" sz="1300" dirty="0">
                <a:solidFill>
                  <a:schemeClr val="tx2"/>
                </a:solidFill>
              </a:rPr>
              <a:t>Productos y usuarios por id, rangos de precio: hash, LRU y B+Tree en disco</a:t>
            </a:r>
            <a:endParaRPr lang="en-US" sz="1300" dirty="0"/>
          </a:p>
        </p:txBody>
      </p:sp>
      <p:sp>
        <p:nvSpPr>
          <p:cNvPr id="11" name="necesidad 3"/>
          <p:cNvSpPr/>
          <p:nvPr/>
        </p:nvSpPr>
        <p:spPr>
          <a:xfrm>
            <a:off x="6181344" y="1463040"/>
            <a:ext cx="2606040" cy="3291840"/>
          </a:xfrm>
          <a:prstGeom prst="roundRect">
            <a:avLst>
              <a:gd name="adj" fmla="val 2807"/>
            </a:avLst>
          </a:prstGeom>
          <a:solidFill>
            <a:schemeClr val="bg2"/>
          </a:solidFill>
          <a:ln w="12700">
            <a:solidFill>
              <a:schemeClr val="bg2"/>
            </a:solidFill>
            <a:prstDash val="solid"/>
          </a:ln>
        </p:spPr>
      </p:sp>
      <p:pic>
        <p:nvPicPr>
          <p:cNvPr id="12" name="Image 2" descr="Detectar fraude en segundos">    </p:cNvPr>
          <p:cNvPicPr>
            <a:picLocks noChangeAspect="1"/>
          </p:cNvPicPr>
          <p:nvPr/>
        </p:nvPicPr>
        <p:blipFill>
          <a:blip r:embed="rId3"/>
          <a:stretch>
            <a:fillRect/>
          </a:stretch>
        </p:blipFill>
        <p:spPr>
          <a:xfrm>
            <a:off x="6455664" y="1737360"/>
            <a:ext cx="548640" cy="548640"/>
          </a:xfrm>
          <a:prstGeom prst="rect">
            <a:avLst/>
          </a:prstGeom>
        </p:spPr>
      </p:pic>
      <p:sp>
        <p:nvSpPr>
          <p:cNvPr id="13" name="Text 8"/>
          <p:cNvSpPr txBox="1"/>
          <p:nvPr/>
        </p:nvSpPr>
        <p:spPr>
          <a:xfrm>
            <a:off x="6455664" y="2468880"/>
            <a:ext cx="210312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Detectar fraude en segundos</a:t>
            </a:r>
            <a:endParaRPr lang="en-US" sz="1700" dirty="0"/>
          </a:p>
        </p:txBody>
      </p:sp>
      <p:sp>
        <p:nvSpPr>
          <p:cNvPr id="14" name="Text 9"/>
          <p:cNvSpPr txBox="1"/>
          <p:nvPr/>
        </p:nvSpPr>
        <p:spPr>
          <a:xfrm>
            <a:off x="6455664" y="3291840"/>
            <a:ext cx="2103120" cy="1280160"/>
          </a:xfrm>
          <a:prstGeom prst="rect">
            <a:avLst/>
          </a:prstGeom>
          <a:noFill/>
          <a:ln/>
        </p:spPr>
        <p:txBody>
          <a:bodyPr wrap="square" lIns="0" tIns="0" rIns="0" bIns="0" rtlCol="0" anchor="t"/>
          <a:lstStyle/>
          <a:p>
            <a:pPr indent="0" marL="0">
              <a:buNone/>
            </a:pPr>
            <a:r>
              <a:rPr lang="en-US" sz="1300" dirty="0">
                <a:solidFill>
                  <a:schemeClr val="tx2"/>
                </a:solidFill>
              </a:rPr>
              <a:t>Lista negra y ráfagas por tarjeta con memoria fija: Bloom y Count-Min</a:t>
            </a:r>
            <a:endParaRPr lang="en-US" sz="1300" dirty="0"/>
          </a:p>
        </p:txBody>
      </p:sp>
      <p:sp>
        <p:nvSpPr>
          <p:cNvPr id="15" name="necesidad 4"/>
          <p:cNvSpPr/>
          <p:nvPr/>
        </p:nvSpPr>
        <p:spPr>
          <a:xfrm>
            <a:off x="8997696" y="1463040"/>
            <a:ext cx="2606040" cy="3291840"/>
          </a:xfrm>
          <a:prstGeom prst="roundRect">
            <a:avLst>
              <a:gd name="adj" fmla="val 2807"/>
            </a:avLst>
          </a:prstGeom>
          <a:solidFill>
            <a:schemeClr val="bg2"/>
          </a:solidFill>
          <a:ln w="12700">
            <a:solidFill>
              <a:schemeClr val="bg2"/>
            </a:solidFill>
            <a:prstDash val="solid"/>
          </a:ln>
        </p:spPr>
      </p:sp>
      <p:pic>
        <p:nvPicPr>
          <p:cNvPr id="16" name="Image 3" descr="Recomendar y descubrir">    </p:cNvPr>
          <p:cNvPicPr>
            <a:picLocks noChangeAspect="1"/>
          </p:cNvPicPr>
          <p:nvPr/>
        </p:nvPicPr>
        <p:blipFill>
          <a:blip r:embed="rId4"/>
          <a:stretch>
            <a:fillRect/>
          </a:stretch>
        </p:blipFill>
        <p:spPr>
          <a:xfrm>
            <a:off x="9272016" y="1737360"/>
            <a:ext cx="548640" cy="548640"/>
          </a:xfrm>
          <a:prstGeom prst="rect">
            <a:avLst/>
          </a:prstGeom>
        </p:spPr>
      </p:pic>
      <p:sp>
        <p:nvSpPr>
          <p:cNvPr id="17" name="Text 11"/>
          <p:cNvSpPr txBox="1"/>
          <p:nvPr/>
        </p:nvSpPr>
        <p:spPr>
          <a:xfrm>
            <a:off x="9272016" y="2468880"/>
            <a:ext cx="210312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Recomendar y descubrir</a:t>
            </a:r>
            <a:endParaRPr lang="en-US" sz="1700" dirty="0"/>
          </a:p>
        </p:txBody>
      </p:sp>
      <p:sp>
        <p:nvSpPr>
          <p:cNvPr id="18" name="Text 12"/>
          <p:cNvSpPr txBox="1"/>
          <p:nvPr/>
        </p:nvSpPr>
        <p:spPr>
          <a:xfrm>
            <a:off x="9272016" y="3291840"/>
            <a:ext cx="2103120" cy="1280160"/>
          </a:xfrm>
          <a:prstGeom prst="rect">
            <a:avLst/>
          </a:prstGeom>
          <a:noFill/>
          <a:ln/>
        </p:spPr>
        <p:txBody>
          <a:bodyPr wrap="square" lIns="0" tIns="0" rIns="0" bIns="0" rtlCol="0" anchor="t"/>
          <a:lstStyle/>
          <a:p>
            <a:pPr indent="0" marL="0">
              <a:buNone/>
            </a:pPr>
            <a:r>
              <a:rPr lang="en-US" sz="1300" dirty="0">
                <a:solidFill>
                  <a:schemeClr val="tx2"/>
                </a:solidFill>
              </a:rPr>
              <a:t>Productos parecidos y comprados juntos: MinHash, IVF, PageRank y Louvain</a:t>
            </a:r>
            <a:endParaRPr lang="en-US" sz="1300" dirty="0"/>
          </a:p>
        </p:txBody>
      </p:sp>
      <p:sp>
        <p:nvSpPr>
          <p:cNvPr id="19" name="Text 13"/>
          <p:cNvSpPr txBox="1"/>
          <p:nvPr/>
        </p:nvSpPr>
        <p:spPr>
          <a:xfrm>
            <a:off x="548640" y="5074920"/>
            <a:ext cx="11064240" cy="822960"/>
          </a:xfrm>
          <a:prstGeom prst="rect">
            <a:avLst/>
          </a:prstGeom>
          <a:noFill/>
          <a:ln/>
        </p:spPr>
        <p:txBody>
          <a:bodyPr wrap="square" lIns="0" tIns="0" rIns="0" bIns="0" rtlCol="0" anchor="t"/>
          <a:lstStyle/>
          <a:p>
            <a:pPr indent="0" marL="0">
              <a:buNone/>
            </a:pPr>
            <a:r>
              <a:rPr lang="en-US" sz="1500" b="1" dirty="0">
                <a:solidFill>
                  <a:schemeClr val="tx1"/>
                </a:solidFill>
              </a:rPr>
              <a:t>La condición del enunciado: </a:t>
            </a:r>
            <a:pPr indent="0" marL="0">
              <a:buNone/>
            </a:pPr>
            <a:r>
              <a:rPr lang="en-US" sz="1500" dirty="0">
                <a:solidFill>
                  <a:schemeClr val="tx2"/>
                </a:solidFill>
              </a:rPr>
              <a:t>no son módulos sueltos. La salida de cada etapa es la entrada real de la siguiente, y cada estructura aproximada se mide contra su versión exacta.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Datos: el esquema de REES46 más el componente de stream</a:t>
            </a:r>
            <a:endParaRPr lang="en-US" sz="2800" dirty="0"/>
          </a:p>
        </p:txBody>
      </p:sp>
      <p:sp>
        <p:nvSpPr>
          <p:cNvPr id="3" name="Text 1"/>
          <p:cNvSpPr txBox="1"/>
          <p:nvPr/>
        </p:nvSpPr>
        <p:spPr>
          <a:xfrm>
            <a:off x="548640" y="1371600"/>
            <a:ext cx="3474720" cy="73152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10,222,591</a:t>
            </a:r>
            <a:endParaRPr lang="en-US" sz="3600" dirty="0"/>
          </a:p>
        </p:txBody>
      </p:sp>
      <p:sp>
        <p:nvSpPr>
          <p:cNvPr id="4" name="Text 2"/>
          <p:cNvSpPr txBox="1"/>
          <p:nvPr/>
        </p:nvSpPr>
        <p:spPr>
          <a:xfrm>
            <a:off x="548640" y="2121408"/>
            <a:ext cx="3474720" cy="502920"/>
          </a:xfrm>
          <a:prstGeom prst="rect">
            <a:avLst/>
          </a:prstGeom>
          <a:noFill/>
          <a:ln/>
        </p:spPr>
        <p:txBody>
          <a:bodyPr wrap="square" lIns="0" tIns="0" rIns="0" bIns="0" rtlCol="0" anchor="t"/>
          <a:lstStyle/>
          <a:p>
            <a:pPr indent="0" marL="0">
              <a:buNone/>
            </a:pPr>
            <a:r>
              <a:rPr lang="en-US" sz="1250" dirty="0">
                <a:solidFill>
                  <a:schemeClr val="tx2"/>
                </a:solidFill>
              </a:rPr>
              <a:t>eventos procesados en la corrida completa</a:t>
            </a:r>
            <a:endParaRPr lang="en-US" sz="1250" dirty="0"/>
          </a:p>
        </p:txBody>
      </p:sp>
      <p:sp>
        <p:nvSpPr>
          <p:cNvPr id="5" name="Text 3"/>
          <p:cNvSpPr txBox="1"/>
          <p:nvPr/>
        </p:nvSpPr>
        <p:spPr>
          <a:xfrm>
            <a:off x="4297680" y="1371600"/>
            <a:ext cx="3474720" cy="73152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200,000</a:t>
            </a:r>
            <a:endParaRPr lang="en-US" sz="3600" dirty="0"/>
          </a:p>
        </p:txBody>
      </p:sp>
      <p:sp>
        <p:nvSpPr>
          <p:cNvPr id="6" name="Text 4"/>
          <p:cNvSpPr txBox="1"/>
          <p:nvPr/>
        </p:nvSpPr>
        <p:spPr>
          <a:xfrm>
            <a:off x="4297680" y="2121408"/>
            <a:ext cx="3474720" cy="502920"/>
          </a:xfrm>
          <a:prstGeom prst="rect">
            <a:avLst/>
          </a:prstGeom>
          <a:noFill/>
          <a:ln/>
        </p:spPr>
        <p:txBody>
          <a:bodyPr wrap="square" lIns="0" tIns="0" rIns="0" bIns="0" rtlCol="0" anchor="t"/>
          <a:lstStyle/>
          <a:p>
            <a:pPr indent="0" marL="0">
              <a:buNone/>
            </a:pPr>
            <a:r>
              <a:rPr lang="en-US" sz="1250" dirty="0">
                <a:solidFill>
                  <a:schemeClr val="tx2"/>
                </a:solidFill>
              </a:rPr>
              <a:t>productos y 401,260 usuarios</a:t>
            </a:r>
            <a:endParaRPr lang="en-US" sz="1250" dirty="0"/>
          </a:p>
        </p:txBody>
      </p:sp>
      <p:sp>
        <p:nvSpPr>
          <p:cNvPr id="7" name="Text 5"/>
          <p:cNvSpPr txBox="1"/>
          <p:nvPr/>
        </p:nvSpPr>
        <p:spPr>
          <a:xfrm>
            <a:off x="8046720" y="1371600"/>
            <a:ext cx="356616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151,072</a:t>
            </a:r>
            <a:endParaRPr lang="en-US" sz="3600" dirty="0"/>
          </a:p>
        </p:txBody>
      </p:sp>
      <p:sp>
        <p:nvSpPr>
          <p:cNvPr id="8" name="Text 6"/>
          <p:cNvSpPr txBox="1"/>
          <p:nvPr/>
        </p:nvSpPr>
        <p:spPr>
          <a:xfrm>
            <a:off x="8046720" y="2121408"/>
            <a:ext cx="3566160" cy="502920"/>
          </a:xfrm>
          <a:prstGeom prst="rect">
            <a:avLst/>
          </a:prstGeom>
          <a:noFill/>
          <a:ln/>
        </p:spPr>
        <p:txBody>
          <a:bodyPr wrap="square" lIns="0" tIns="0" rIns="0" bIns="0" rtlCol="0" anchor="t"/>
          <a:lstStyle/>
          <a:p>
            <a:pPr indent="0" marL="0">
              <a:buNone/>
            </a:pPr>
            <a:r>
              <a:rPr lang="en-US" sz="1250" dirty="0">
                <a:solidFill>
                  <a:schemeClr val="tx2"/>
                </a:solidFill>
              </a:rPr>
              <a:t>duplicados inyectados (1,5 %), todos eliminados</a:t>
            </a:r>
            <a:endParaRPr lang="en-US" sz="1250" dirty="0"/>
          </a:p>
        </p:txBody>
      </p:sp>
      <p:sp>
        <p:nvSpPr>
          <p:cNvPr id="9" name="Text 7"/>
          <p:cNvSpPr txBox="1"/>
          <p:nvPr/>
        </p:nvSpPr>
        <p:spPr>
          <a:xfrm>
            <a:off x="548640" y="3017520"/>
            <a:ext cx="11064240" cy="3108960"/>
          </a:xfrm>
          <a:prstGeom prst="rect">
            <a:avLst/>
          </a:prstGeom>
          <a:noFill/>
          <a:ln/>
        </p:spPr>
        <p:txBody>
          <a:bodyPr wrap="square" lIns="0" tIns="0" rIns="0" bIns="0" rtlCol="0" anchor="t"/>
          <a:lstStyle/>
          <a:p>
            <a:pPr indent="0" marL="0">
              <a:spcAft>
                <a:spcPts val="1600"/>
              </a:spcAft>
              <a:buNone/>
            </a:pPr>
            <a:r>
              <a:rPr lang="en-US" sz="1800" b="1" dirty="0">
                <a:solidFill>
                  <a:schemeClr val="tx1"/>
                </a:solidFill>
              </a:rPr>
              <a:t>Base REES46 (Kaggle): </a:t>
            </a:r>
            <a:pPr indent="0" marL="0">
              <a:spcAft>
                <a:spcPts val="1600"/>
              </a:spcAft>
              <a:buNone/>
            </a:pPr>
            <a:r>
              <a:rPr lang="en-US" sz="1800" dirty="0">
                <a:solidFill>
                  <a:schemeClr val="tx2"/>
                </a:solidFill>
              </a:rPr>
              <a:t>event_time, event_type, product_id, category_code, brand, price, user_id, user_session. Embudo vista → carrito → compra, popularidad Zipf y sesiones por categorías afines.</a:t>
            </a:r>
            <a:endParaRPr lang="en-US" sz="1800" dirty="0"/>
          </a:p>
          <a:p>
            <a:pPr indent="0" marL="0">
              <a:spcAft>
                <a:spcPts val="1600"/>
              </a:spcAft>
              <a:buNone/>
            </a:pPr>
            <a:r>
              <a:rPr lang="en-US" sz="1800" b="1" dirty="0">
                <a:solidFill>
                  <a:schemeClr val="tx1"/>
                </a:solidFill>
              </a:rPr>
              <a:t>Componente sintético con semilla fija: </a:t>
            </a:r>
            <a:pPr indent="0" marL="0">
              <a:spcAft>
                <a:spcPts val="1600"/>
              </a:spcAft>
              <a:buNone/>
            </a:pPr>
            <a:r>
              <a:rPr lang="en-US" sz="1800" dirty="0">
                <a:solidFill>
                  <a:schemeClr val="tx2"/>
                </a:solidFill>
              </a:rPr>
              <a:t>dispositivo, IP, tarjeta, usuario premium, tipo de envío, consultas, duplicados reenviados y ráfagas de fraude de 25 a 120 intentos en menos de 5 minutos.</a:t>
            </a:r>
            <a:endParaRPr lang="en-US" sz="1800" dirty="0"/>
          </a:p>
          <a:p>
            <a:pPr indent="0" marL="0">
              <a:spcAft>
                <a:spcPts val="1600"/>
              </a:spcAft>
              <a:buNone/>
            </a:pPr>
            <a:r>
              <a:rPr lang="en-US" sz="1800" b="1" dirty="0">
                <a:solidFill>
                  <a:schemeClr val="tx1"/>
                </a:solidFill>
              </a:rPr>
              <a:t>Nota: </a:t>
            </a:r>
            <a:pPr indent="0" marL="0">
              <a:spcAft>
                <a:spcPts val="1600"/>
              </a:spcAft>
              <a:buNone/>
            </a:pPr>
            <a:r>
              <a:rPr lang="en-US" sz="1800" dirty="0">
                <a:solidFill>
                  <a:schemeClr val="tx2"/>
                </a:solidFill>
              </a:rPr>
              <a:t>el entorno de ejecución no tenía acceso a Kaggle, por eso las corridas usan el generador con el mismo esquema. Con los CSV en data/raw/ el mismo comando corre sobre el dataset real.</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Arquitectura: un evento recorre las 10 etapas en orden</a:t>
            </a:r>
            <a:endParaRPr lang="en-US" sz="2800" dirty="0"/>
          </a:p>
        </p:txBody>
      </p:sp>
      <p:pic>
        <p:nvPicPr>
          <p:cNvPr id="3" name="Image 0" descr="Diagrama del pipeline: S0 cola, S1 limpieza, S2 heap, S3 hash, S6 filtrado, luego S4, S5, S7, S8 y S9">    </p:cNvPr>
          <p:cNvPicPr>
            <a:picLocks noChangeAspect="1"/>
          </p:cNvPicPr>
          <p:nvPr/>
        </p:nvPicPr>
        <p:blipFill>
          <a:blip r:embed="rId1"/>
          <a:stretch>
            <a:fillRect/>
          </a:stretch>
        </p:blipFill>
        <p:spPr>
          <a:xfrm>
            <a:off x="1037465" y="1325880"/>
            <a:ext cx="10116766" cy="4754880"/>
          </a:xfrm>
          <a:prstGeom prst="rect">
            <a:avLst/>
          </a:prstGeom>
        </p:spPr>
      </p:pic>
      <p:sp>
        <p:nvSpPr>
          <p:cNvPr id="4" name="Text 1"/>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250" i="1" dirty="0">
                <a:solidFill>
                  <a:schemeClr val="tx2"/>
                </a:solidFill>
              </a:rPr>
              <a:t>Lotes de 5.000 eventos. Lo incremental corre por evento; KD-Tree, MinHash, SVD + IVF, PageRank y Louvain se refrescan cada 2M eventos.</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S0 a S2: entrar, limpiar y priorizar</a:t>
            </a:r>
            <a:endParaRPr lang="en-US" sz="2800" dirty="0"/>
          </a:p>
        </p:txBody>
      </p:sp>
      <p:sp>
        <p:nvSpPr>
          <p:cNvPr id="3" name="tarjeta S0"/>
          <p:cNvSpPr/>
          <p:nvPr/>
        </p:nvSpPr>
        <p:spPr>
          <a:xfrm>
            <a:off x="548640" y="1371600"/>
            <a:ext cx="3566160" cy="4754880"/>
          </a:xfrm>
          <a:prstGeom prst="roundRect">
            <a:avLst>
              <a:gd name="adj" fmla="val 2051"/>
            </a:avLst>
          </a:prstGeom>
          <a:solidFill>
            <a:schemeClr val="bg2"/>
          </a:solidFill>
          <a:ln w="12700">
            <a:solidFill>
              <a:schemeClr val="bg2"/>
            </a:solidFill>
            <a:prstDash val="solid"/>
          </a:ln>
        </p:spPr>
      </p:sp>
      <p:sp>
        <p:nvSpPr>
          <p:cNvPr id="4" name="insignia S0"/>
          <p:cNvSpPr/>
          <p:nvPr/>
        </p:nvSpPr>
        <p:spPr>
          <a:xfrm>
            <a:off x="822960" y="1645920"/>
            <a:ext cx="566928" cy="566928"/>
          </a:xfrm>
          <a:prstGeom prst="roundRect">
            <a:avLst>
              <a:gd name="adj" fmla="val 19355"/>
            </a:avLst>
          </a:prstGeom>
          <a:solidFill>
            <a:schemeClr val="accent1"/>
          </a:solidFill>
          <a:ln w="12700">
            <a:solidFill>
              <a:schemeClr val="accent1"/>
            </a:solidFill>
            <a:prstDash val="solid"/>
          </a:ln>
        </p:spPr>
      </p:sp>
      <p:sp>
        <p:nvSpPr>
          <p:cNvPr id="5" name="texto insignia S0"/>
          <p:cNvSpPr txBox="1"/>
          <p:nvPr/>
        </p:nvSpPr>
        <p:spPr>
          <a:xfrm>
            <a:off x="82296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S0</a:t>
            </a:r>
            <a:endParaRPr lang="en-US" sz="1600" dirty="0"/>
          </a:p>
        </p:txBody>
      </p:sp>
      <p:sp>
        <p:nvSpPr>
          <p:cNvPr id="6" name="Text 4"/>
          <p:cNvSpPr txBox="1"/>
          <p:nvPr/>
        </p:nvSpPr>
        <p:spPr>
          <a:xfrm>
            <a:off x="1554480" y="1627632"/>
            <a:ext cx="2377440" cy="60350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Cola FIFO enlazada</a:t>
            </a:r>
            <a:endParaRPr lang="en-US" sz="1800" dirty="0"/>
          </a:p>
        </p:txBody>
      </p:sp>
      <p:sp>
        <p:nvSpPr>
          <p:cNvPr id="7" name="Text 5"/>
          <p:cNvSpPr txBox="1"/>
          <p:nvPr/>
        </p:nvSpPr>
        <p:spPr>
          <a:xfrm>
            <a:off x="822960" y="2377440"/>
            <a:ext cx="3017520" cy="2331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Buffer entre el lector y el consumidor</a:t>
            </a:r>
            <a:endParaRPr lang="en-US" sz="1500" dirty="0"/>
          </a:p>
          <a:p>
            <a:pPr marL="342900" indent="-342900">
              <a:spcAft>
                <a:spcPts val="1000"/>
              </a:spcAft>
              <a:buSzPct val="100000"/>
              <a:buChar char="•"/>
            </a:pPr>
            <a:r>
              <a:rPr lang="en-US" sz="1500" dirty="0">
                <a:solidFill>
                  <a:schemeClr val="tx2"/>
                </a:solidFill>
              </a:rPr>
              <a:t>Capacidad máxima: si se llena, descarta y cuenta (backpressure)</a:t>
            </a:r>
            <a:endParaRPr lang="en-US" sz="1500" dirty="0"/>
          </a:p>
          <a:p>
            <a:pPr marL="342900" indent="-342900">
              <a:spcAft>
                <a:spcPts val="1000"/>
              </a:spcAft>
              <a:buSzPct val="100000"/>
              <a:buChar char="•"/>
            </a:pPr>
            <a:r>
              <a:rPr lang="en-US" sz="1500" dirty="0">
                <a:solidFill>
                  <a:schemeClr val="tx2"/>
                </a:solidFill>
              </a:rPr>
              <a:t>enqueue y dequeue O(1)</a:t>
            </a:r>
            <a:endParaRPr lang="en-US" sz="1500" dirty="0"/>
          </a:p>
        </p:txBody>
      </p:sp>
      <p:sp>
        <p:nvSpPr>
          <p:cNvPr id="8" name="Text 6"/>
          <p:cNvSpPr txBox="1"/>
          <p:nvPr/>
        </p:nvSpPr>
        <p:spPr>
          <a:xfrm>
            <a:off x="822960" y="4800600"/>
            <a:ext cx="3017520" cy="68580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pend. 1.12</a:t>
            </a:r>
            <a:endParaRPr lang="en-US" sz="3000" dirty="0"/>
          </a:p>
        </p:txBody>
      </p:sp>
      <p:sp>
        <p:nvSpPr>
          <p:cNvPr id="9" name="Text 7"/>
          <p:cNvSpPr txBox="1"/>
          <p:nvPr/>
        </p:nvSpPr>
        <p:spPr>
          <a:xfrm>
            <a:off x="822960" y="5504688"/>
            <a:ext cx="3017520" cy="411480"/>
          </a:xfrm>
          <a:prstGeom prst="rect">
            <a:avLst/>
          </a:prstGeom>
          <a:noFill/>
          <a:ln/>
        </p:spPr>
        <p:txBody>
          <a:bodyPr wrap="square" lIns="0" tIns="0" rIns="0" bIns="0" rtlCol="0" anchor="t"/>
          <a:lstStyle/>
          <a:p>
            <a:pPr indent="0" marL="0">
              <a:buNone/>
            </a:pPr>
            <a:r>
              <a:rPr lang="en-US" sz="1150" dirty="0">
                <a:solidFill>
                  <a:schemeClr val="tx2"/>
                </a:solidFill>
              </a:rPr>
              <a:t>en log-log, esperado 1 para O(n)</a:t>
            </a:r>
            <a:endParaRPr lang="en-US" sz="1150" dirty="0"/>
          </a:p>
        </p:txBody>
      </p:sp>
      <p:sp>
        <p:nvSpPr>
          <p:cNvPr id="10" name="tarjeta S1"/>
          <p:cNvSpPr/>
          <p:nvPr/>
        </p:nvSpPr>
        <p:spPr>
          <a:xfrm>
            <a:off x="4297680" y="1371600"/>
            <a:ext cx="3566160" cy="4754880"/>
          </a:xfrm>
          <a:prstGeom prst="roundRect">
            <a:avLst>
              <a:gd name="adj" fmla="val 2051"/>
            </a:avLst>
          </a:prstGeom>
          <a:solidFill>
            <a:schemeClr val="bg2"/>
          </a:solidFill>
          <a:ln w="12700">
            <a:solidFill>
              <a:schemeClr val="bg2"/>
            </a:solidFill>
            <a:prstDash val="solid"/>
          </a:ln>
        </p:spPr>
      </p:sp>
      <p:sp>
        <p:nvSpPr>
          <p:cNvPr id="11" name="insignia S1"/>
          <p:cNvSpPr/>
          <p:nvPr/>
        </p:nvSpPr>
        <p:spPr>
          <a:xfrm>
            <a:off x="4572000" y="1645920"/>
            <a:ext cx="566928" cy="566928"/>
          </a:xfrm>
          <a:prstGeom prst="roundRect">
            <a:avLst>
              <a:gd name="adj" fmla="val 19355"/>
            </a:avLst>
          </a:prstGeom>
          <a:solidFill>
            <a:schemeClr val="accent1"/>
          </a:solidFill>
          <a:ln w="12700">
            <a:solidFill>
              <a:schemeClr val="accent1"/>
            </a:solidFill>
            <a:prstDash val="solid"/>
          </a:ln>
        </p:spPr>
      </p:sp>
      <p:sp>
        <p:nvSpPr>
          <p:cNvPr id="12" name="texto insignia S1"/>
          <p:cNvSpPr txBox="1"/>
          <p:nvPr/>
        </p:nvSpPr>
        <p:spPr>
          <a:xfrm>
            <a:off x="457200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S1</a:t>
            </a:r>
            <a:endParaRPr lang="en-US" sz="1600" dirty="0"/>
          </a:p>
        </p:txBody>
      </p:sp>
      <p:sp>
        <p:nvSpPr>
          <p:cNvPr id="13" name="Text 11"/>
          <p:cNvSpPr txBox="1"/>
          <p:nvPr/>
        </p:nvSpPr>
        <p:spPr>
          <a:xfrm>
            <a:off x="5303520" y="1627632"/>
            <a:ext cx="2377440" cy="60350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Merge sort + búsqueda binaria</a:t>
            </a:r>
            <a:endParaRPr lang="en-US" sz="1800" dirty="0"/>
          </a:p>
        </p:txBody>
      </p:sp>
      <p:sp>
        <p:nvSpPr>
          <p:cNvPr id="14" name="Text 12"/>
          <p:cNvSpPr txBox="1"/>
          <p:nvPr/>
        </p:nvSpPr>
        <p:spPr>
          <a:xfrm>
            <a:off x="4572000" y="2377440"/>
            <a:ext cx="3017520" cy="2331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Valida y normaliza cada evento</a:t>
            </a:r>
            <a:endParaRPr lang="en-US" sz="1500" dirty="0"/>
          </a:p>
          <a:p>
            <a:pPr marL="342900" indent="-342900">
              <a:spcAft>
                <a:spcPts val="1000"/>
              </a:spcAft>
              <a:buSzPct val="100000"/>
              <a:buChar char="•"/>
            </a:pPr>
            <a:r>
              <a:rPr lang="en-US" sz="1500" dirty="0">
                <a:solidFill>
                  <a:schemeClr val="tx2"/>
                </a:solidFill>
              </a:rPr>
              <a:t>Busca cada id en la ventana ordenada de los últimos 500K</a:t>
            </a:r>
            <a:endParaRPr lang="en-US" sz="1500" dirty="0"/>
          </a:p>
          <a:p>
            <a:pPr marL="342900" indent="-342900">
              <a:spcAft>
                <a:spcPts val="1000"/>
              </a:spcAft>
              <a:buSzPct val="100000"/>
              <a:buChar char="•"/>
            </a:pPr>
            <a:r>
              <a:rPr lang="en-US" sz="1500" dirty="0">
                <a:solidFill>
                  <a:schemeClr val="tx2"/>
                </a:solidFill>
              </a:rPr>
              <a:t>O(b log W) por lote</a:t>
            </a:r>
            <a:endParaRPr lang="en-US" sz="1500" dirty="0"/>
          </a:p>
        </p:txBody>
      </p:sp>
      <p:sp>
        <p:nvSpPr>
          <p:cNvPr id="15" name="Text 13"/>
          <p:cNvSpPr txBox="1"/>
          <p:nvPr/>
        </p:nvSpPr>
        <p:spPr>
          <a:xfrm>
            <a:off x="4572000" y="4800600"/>
            <a:ext cx="3017520" cy="68580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151,072</a:t>
            </a:r>
            <a:endParaRPr lang="en-US" sz="3000" dirty="0"/>
          </a:p>
        </p:txBody>
      </p:sp>
      <p:sp>
        <p:nvSpPr>
          <p:cNvPr id="16" name="Text 14"/>
          <p:cNvSpPr txBox="1"/>
          <p:nvPr/>
        </p:nvSpPr>
        <p:spPr>
          <a:xfrm>
            <a:off x="4572000" y="5504688"/>
            <a:ext cx="3017520" cy="411480"/>
          </a:xfrm>
          <a:prstGeom prst="rect">
            <a:avLst/>
          </a:prstGeom>
          <a:noFill/>
          <a:ln/>
        </p:spPr>
        <p:txBody>
          <a:bodyPr wrap="square" lIns="0" tIns="0" rIns="0" bIns="0" rtlCol="0" anchor="t"/>
          <a:lstStyle/>
          <a:p>
            <a:pPr indent="0" marL="0">
              <a:buNone/>
            </a:pPr>
            <a:r>
              <a:rPr lang="en-US" sz="1150" dirty="0">
                <a:solidFill>
                  <a:schemeClr val="tx2"/>
                </a:solidFill>
              </a:rPr>
              <a:t>duplicados eliminados, 151,072 reales</a:t>
            </a:r>
            <a:endParaRPr lang="en-US" sz="1150" dirty="0"/>
          </a:p>
        </p:txBody>
      </p:sp>
      <p:sp>
        <p:nvSpPr>
          <p:cNvPr id="17" name="tarjeta S2"/>
          <p:cNvSpPr/>
          <p:nvPr/>
        </p:nvSpPr>
        <p:spPr>
          <a:xfrm>
            <a:off x="8046720" y="1371600"/>
            <a:ext cx="3566160" cy="4754880"/>
          </a:xfrm>
          <a:prstGeom prst="roundRect">
            <a:avLst>
              <a:gd name="adj" fmla="val 2051"/>
            </a:avLst>
          </a:prstGeom>
          <a:solidFill>
            <a:schemeClr val="bg2"/>
          </a:solidFill>
          <a:ln w="12700">
            <a:solidFill>
              <a:schemeClr val="bg2"/>
            </a:solidFill>
            <a:prstDash val="solid"/>
          </a:ln>
        </p:spPr>
      </p:sp>
      <p:sp>
        <p:nvSpPr>
          <p:cNvPr id="18" name="insignia S2"/>
          <p:cNvSpPr/>
          <p:nvPr/>
        </p:nvSpPr>
        <p:spPr>
          <a:xfrm>
            <a:off x="8321040" y="1645920"/>
            <a:ext cx="566928" cy="566928"/>
          </a:xfrm>
          <a:prstGeom prst="roundRect">
            <a:avLst>
              <a:gd name="adj" fmla="val 19355"/>
            </a:avLst>
          </a:prstGeom>
          <a:solidFill>
            <a:schemeClr val="accent1"/>
          </a:solidFill>
          <a:ln w="12700">
            <a:solidFill>
              <a:schemeClr val="accent1"/>
            </a:solidFill>
            <a:prstDash val="solid"/>
          </a:ln>
        </p:spPr>
      </p:sp>
      <p:sp>
        <p:nvSpPr>
          <p:cNvPr id="19" name="texto insignia S2"/>
          <p:cNvSpPr txBox="1"/>
          <p:nvPr/>
        </p:nvSpPr>
        <p:spPr>
          <a:xfrm>
            <a:off x="832104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S2</a:t>
            </a:r>
            <a:endParaRPr lang="en-US" sz="1600" dirty="0"/>
          </a:p>
        </p:txBody>
      </p:sp>
      <p:sp>
        <p:nvSpPr>
          <p:cNvPr id="20" name="Text 18"/>
          <p:cNvSpPr txBox="1"/>
          <p:nvPr/>
        </p:nvSpPr>
        <p:spPr>
          <a:xfrm>
            <a:off x="9052560" y="1627632"/>
            <a:ext cx="2377440" cy="60350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Heap binario</a:t>
            </a:r>
            <a:endParaRPr lang="en-US" sz="1800" dirty="0"/>
          </a:p>
        </p:txBody>
      </p:sp>
      <p:sp>
        <p:nvSpPr>
          <p:cNvPr id="21" name="Text 19"/>
          <p:cNvSpPr txBox="1"/>
          <p:nvPr/>
        </p:nvSpPr>
        <p:spPr>
          <a:xfrm>
            <a:off x="8321040" y="2377440"/>
            <a:ext cx="3017520" cy="2331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Express, premium, estándar, programada, carrito, vista</a:t>
            </a:r>
            <a:endParaRPr lang="en-US" sz="1500" dirty="0"/>
          </a:p>
          <a:p>
            <a:pPr marL="342900" indent="-342900">
              <a:spcAft>
                <a:spcPts val="1000"/>
              </a:spcAft>
              <a:buSzPct val="100000"/>
              <a:buChar char="•"/>
            </a:pPr>
            <a:r>
              <a:rPr lang="en-US" sz="1500" dirty="0">
                <a:solidFill>
                  <a:schemeClr val="tx2"/>
                </a:solidFill>
              </a:rPr>
              <a:t>Desempate por orden de llegada</a:t>
            </a:r>
            <a:endParaRPr lang="en-US" sz="1500" dirty="0"/>
          </a:p>
          <a:p>
            <a:pPr marL="342900" indent="-342900">
              <a:spcAft>
                <a:spcPts val="1000"/>
              </a:spcAft>
              <a:buSzPct val="100000"/>
              <a:buChar char="•"/>
            </a:pPr>
            <a:r>
              <a:rPr lang="en-US" sz="1500" dirty="0">
                <a:solidFill>
                  <a:schemeClr val="tx2"/>
                </a:solidFill>
              </a:rPr>
              <a:t>push y pop O(log n)</a:t>
            </a:r>
            <a:endParaRPr lang="en-US" sz="1500" dirty="0"/>
          </a:p>
        </p:txBody>
      </p:sp>
      <p:sp>
        <p:nvSpPr>
          <p:cNvPr id="22" name="Text 20"/>
          <p:cNvSpPr txBox="1"/>
          <p:nvPr/>
        </p:nvSpPr>
        <p:spPr>
          <a:xfrm>
            <a:off x="8321040" y="4800600"/>
            <a:ext cx="3017520" cy="68580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87,216</a:t>
            </a:r>
            <a:endParaRPr lang="en-US" sz="3000" dirty="0"/>
          </a:p>
        </p:txBody>
      </p:sp>
      <p:sp>
        <p:nvSpPr>
          <p:cNvPr id="23" name="Text 21"/>
          <p:cNvSpPr txBox="1"/>
          <p:nvPr/>
        </p:nvSpPr>
        <p:spPr>
          <a:xfrm>
            <a:off x="8321040" y="5504688"/>
            <a:ext cx="3017520" cy="411480"/>
          </a:xfrm>
          <a:prstGeom prst="rect">
            <a:avLst/>
          </a:prstGeom>
          <a:noFill/>
          <a:ln/>
        </p:spPr>
        <p:txBody>
          <a:bodyPr wrap="square" lIns="0" tIns="0" rIns="0" bIns="0" rtlCol="0" anchor="t"/>
          <a:lstStyle/>
          <a:p>
            <a:pPr indent="0" marL="0">
              <a:buNone/>
            </a:pPr>
            <a:r>
              <a:rPr lang="en-US" sz="1150" dirty="0">
                <a:solidFill>
                  <a:schemeClr val="tx2"/>
                </a:solidFill>
              </a:rPr>
              <a:t>compras express atendidas primero</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S3 a S5: consultar rápido, en memoria y en disco</a:t>
            </a:r>
            <a:endParaRPr lang="en-US" sz="2800" dirty="0"/>
          </a:p>
        </p:txBody>
      </p:sp>
      <p:sp>
        <p:nvSpPr>
          <p:cNvPr id="3" name="tarjeta S3"/>
          <p:cNvSpPr/>
          <p:nvPr/>
        </p:nvSpPr>
        <p:spPr>
          <a:xfrm>
            <a:off x="548640" y="1371600"/>
            <a:ext cx="3566160" cy="4754880"/>
          </a:xfrm>
          <a:prstGeom prst="roundRect">
            <a:avLst>
              <a:gd name="adj" fmla="val 2051"/>
            </a:avLst>
          </a:prstGeom>
          <a:solidFill>
            <a:schemeClr val="bg2"/>
          </a:solidFill>
          <a:ln w="12700">
            <a:solidFill>
              <a:schemeClr val="bg2"/>
            </a:solidFill>
            <a:prstDash val="solid"/>
          </a:ln>
        </p:spPr>
      </p:sp>
      <p:sp>
        <p:nvSpPr>
          <p:cNvPr id="4" name="insignia S3"/>
          <p:cNvSpPr/>
          <p:nvPr/>
        </p:nvSpPr>
        <p:spPr>
          <a:xfrm>
            <a:off x="822960" y="1645920"/>
            <a:ext cx="566928" cy="566928"/>
          </a:xfrm>
          <a:prstGeom prst="roundRect">
            <a:avLst>
              <a:gd name="adj" fmla="val 19355"/>
            </a:avLst>
          </a:prstGeom>
          <a:solidFill>
            <a:schemeClr val="accent3"/>
          </a:solidFill>
          <a:ln w="12700">
            <a:solidFill>
              <a:schemeClr val="accent3"/>
            </a:solidFill>
            <a:prstDash val="solid"/>
          </a:ln>
        </p:spPr>
      </p:sp>
      <p:sp>
        <p:nvSpPr>
          <p:cNvPr id="5" name="texto insignia S3"/>
          <p:cNvSpPr txBox="1"/>
          <p:nvPr/>
        </p:nvSpPr>
        <p:spPr>
          <a:xfrm>
            <a:off x="82296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S3</a:t>
            </a:r>
            <a:endParaRPr lang="en-US" sz="1600" dirty="0"/>
          </a:p>
        </p:txBody>
      </p:sp>
      <p:sp>
        <p:nvSpPr>
          <p:cNvPr id="6" name="Text 4"/>
          <p:cNvSpPr txBox="1"/>
          <p:nvPr/>
        </p:nvSpPr>
        <p:spPr>
          <a:xfrm>
            <a:off x="1554480" y="1627632"/>
            <a:ext cx="2377440" cy="60350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Hash, LRU y matriz dispersa</a:t>
            </a:r>
            <a:endParaRPr lang="en-US" sz="1800" dirty="0"/>
          </a:p>
        </p:txBody>
      </p:sp>
      <p:sp>
        <p:nvSpPr>
          <p:cNvPr id="7" name="Text 5"/>
          <p:cNvSpPr txBox="1"/>
          <p:nvPr/>
        </p:nvSpPr>
        <p:spPr>
          <a:xfrm>
            <a:off x="822960" y="2377440"/>
            <a:ext cx="3017520" cy="2331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Sondeo lineal con carga ≤ 0,7</a:t>
            </a:r>
            <a:endParaRPr lang="en-US" sz="1500" dirty="0"/>
          </a:p>
          <a:p>
            <a:pPr marL="342900" indent="-342900">
              <a:spcAft>
                <a:spcPts val="1000"/>
              </a:spcAft>
              <a:buSzPct val="100000"/>
              <a:buChar char="•"/>
            </a:pPr>
            <a:r>
              <a:rPr lang="en-US" sz="1500" dirty="0">
                <a:solidFill>
                  <a:schemeClr val="tx2"/>
                </a:solidFill>
              </a:rPr>
              <a:t>LRU de fichas: 91.5 % de aciertos</a:t>
            </a:r>
            <a:endParaRPr lang="en-US" sz="1500" dirty="0"/>
          </a:p>
          <a:p>
            <a:pPr marL="342900" indent="-342900">
              <a:spcAft>
                <a:spcPts val="1000"/>
              </a:spcAft>
              <a:buSzPct val="100000"/>
              <a:buChar char="•"/>
            </a:pPr>
            <a:r>
              <a:rPr lang="en-US" sz="1500" dirty="0">
                <a:solidFill>
                  <a:schemeClr val="tx2"/>
                </a:solidFill>
              </a:rPr>
              <a:t>Matriz usuario × producto: 8,441,002 celdas</a:t>
            </a:r>
            <a:endParaRPr lang="en-US" sz="1500" dirty="0"/>
          </a:p>
        </p:txBody>
      </p:sp>
      <p:sp>
        <p:nvSpPr>
          <p:cNvPr id="8" name="Text 6"/>
          <p:cNvSpPr txBox="1"/>
          <p:nvPr/>
        </p:nvSpPr>
        <p:spPr>
          <a:xfrm>
            <a:off x="822960" y="4800600"/>
            <a:ext cx="3017520" cy="68580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2.4 µs</a:t>
            </a:r>
            <a:endParaRPr lang="en-US" sz="3000" dirty="0"/>
          </a:p>
        </p:txBody>
      </p:sp>
      <p:sp>
        <p:nvSpPr>
          <p:cNvPr id="9" name="Text 7"/>
          <p:cNvSpPr txBox="1"/>
          <p:nvPr/>
        </p:nvSpPr>
        <p:spPr>
          <a:xfrm>
            <a:off x="822960" y="5504688"/>
            <a:ext cx="3017520" cy="411480"/>
          </a:xfrm>
          <a:prstGeom prst="rect">
            <a:avLst/>
          </a:prstGeom>
          <a:noFill/>
          <a:ln/>
        </p:spPr>
        <p:txBody>
          <a:bodyPr wrap="square" lIns="0" tIns="0" rIns="0" bIns="0" rtlCol="0" anchor="t"/>
          <a:lstStyle/>
          <a:p>
            <a:pPr indent="0" marL="0">
              <a:buNone/>
            </a:pPr>
            <a:r>
              <a:rPr lang="en-US" sz="1150" dirty="0">
                <a:solidFill>
                  <a:schemeClr val="tx2"/>
                </a:solidFill>
              </a:rPr>
              <a:t>por operación con 10M claves (2.11 sondeos)</a:t>
            </a:r>
            <a:endParaRPr lang="en-US" sz="1150" dirty="0"/>
          </a:p>
        </p:txBody>
      </p:sp>
      <p:sp>
        <p:nvSpPr>
          <p:cNvPr id="10" name="tarjeta S4"/>
          <p:cNvSpPr/>
          <p:nvPr/>
        </p:nvSpPr>
        <p:spPr>
          <a:xfrm>
            <a:off x="4297680" y="1371600"/>
            <a:ext cx="3566160" cy="4754880"/>
          </a:xfrm>
          <a:prstGeom prst="roundRect">
            <a:avLst>
              <a:gd name="adj" fmla="val 2051"/>
            </a:avLst>
          </a:prstGeom>
          <a:solidFill>
            <a:schemeClr val="bg2"/>
          </a:solidFill>
          <a:ln w="12700">
            <a:solidFill>
              <a:schemeClr val="bg2"/>
            </a:solidFill>
            <a:prstDash val="solid"/>
          </a:ln>
        </p:spPr>
      </p:sp>
      <p:sp>
        <p:nvSpPr>
          <p:cNvPr id="11" name="insignia S4"/>
          <p:cNvSpPr/>
          <p:nvPr/>
        </p:nvSpPr>
        <p:spPr>
          <a:xfrm>
            <a:off x="4572000" y="1645920"/>
            <a:ext cx="566928" cy="566928"/>
          </a:xfrm>
          <a:prstGeom prst="roundRect">
            <a:avLst>
              <a:gd name="adj" fmla="val 19355"/>
            </a:avLst>
          </a:prstGeom>
          <a:solidFill>
            <a:schemeClr val="accent3"/>
          </a:solidFill>
          <a:ln w="12700">
            <a:solidFill>
              <a:schemeClr val="accent3"/>
            </a:solidFill>
            <a:prstDash val="solid"/>
          </a:ln>
        </p:spPr>
      </p:sp>
      <p:sp>
        <p:nvSpPr>
          <p:cNvPr id="12" name="texto insignia S4"/>
          <p:cNvSpPr txBox="1"/>
          <p:nvPr/>
        </p:nvSpPr>
        <p:spPr>
          <a:xfrm>
            <a:off x="457200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S4</a:t>
            </a:r>
            <a:endParaRPr lang="en-US" sz="1600" dirty="0"/>
          </a:p>
        </p:txBody>
      </p:sp>
      <p:sp>
        <p:nvSpPr>
          <p:cNvPr id="13" name="Text 11"/>
          <p:cNvSpPr txBox="1"/>
          <p:nvPr/>
        </p:nvSpPr>
        <p:spPr>
          <a:xfrm>
            <a:off x="5303520" y="1627632"/>
            <a:ext cx="2377440" cy="60350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B+Tree en disco</a:t>
            </a:r>
            <a:endParaRPr lang="en-US" sz="1800" dirty="0"/>
          </a:p>
        </p:txBody>
      </p:sp>
      <p:sp>
        <p:nvSpPr>
          <p:cNvPr id="14" name="Text 12"/>
          <p:cNvSpPr txBox="1"/>
          <p:nvPr/>
        </p:nvSpPr>
        <p:spPr>
          <a:xfrm>
            <a:off x="4572000" y="2377440"/>
            <a:ext cx="3017520" cy="2331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Páginas de 4 KB, 255 claves por hoja</a:t>
            </a:r>
            <a:endParaRPr lang="en-US" sz="1500" dirty="0"/>
          </a:p>
          <a:p>
            <a:pPr marL="342900" indent="-342900">
              <a:spcAft>
                <a:spcPts val="1000"/>
              </a:spcAft>
              <a:buSzPct val="100000"/>
              <a:buChar char="•"/>
            </a:pPr>
            <a:r>
              <a:rPr lang="en-US" sz="1500" dirty="0">
                <a:solidFill>
                  <a:schemeClr val="tx2"/>
                </a:solidFill>
              </a:rPr>
              <a:t>Buffer pool LRU con write-back</a:t>
            </a:r>
            <a:endParaRPr lang="en-US" sz="1500" dirty="0"/>
          </a:p>
          <a:p>
            <a:pPr marL="342900" indent="-342900">
              <a:spcAft>
                <a:spcPts val="1000"/>
              </a:spcAft>
              <a:buSzPct val="100000"/>
              <a:buChar char="•"/>
            </a:pPr>
            <a:r>
              <a:rPr lang="en-US" sz="1500" dirty="0">
                <a:solidFill>
                  <a:schemeClr val="tx2"/>
                </a:solidFill>
              </a:rPr>
              <a:t>Carga masiva de 10M claves en 2.0 s</a:t>
            </a:r>
            <a:endParaRPr lang="en-US" sz="1500" dirty="0"/>
          </a:p>
        </p:txBody>
      </p:sp>
      <p:sp>
        <p:nvSpPr>
          <p:cNvPr id="15" name="Text 13"/>
          <p:cNvSpPr txBox="1"/>
          <p:nvPr/>
        </p:nvSpPr>
        <p:spPr>
          <a:xfrm>
            <a:off x="4572000" y="4800600"/>
            <a:ext cx="3017520" cy="68580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44 µs</a:t>
            </a:r>
            <a:endParaRPr lang="en-US" sz="3000" dirty="0"/>
          </a:p>
        </p:txBody>
      </p:sp>
      <p:sp>
        <p:nvSpPr>
          <p:cNvPr id="16" name="Text 14"/>
          <p:cNvSpPr txBox="1"/>
          <p:nvPr/>
        </p:nvSpPr>
        <p:spPr>
          <a:xfrm>
            <a:off x="4572000" y="5504688"/>
            <a:ext cx="3017520" cy="411480"/>
          </a:xfrm>
          <a:prstGeom prst="rect">
            <a:avLst/>
          </a:prstGeom>
          <a:noFill/>
          <a:ln/>
        </p:spPr>
        <p:txBody>
          <a:bodyPr wrap="square" lIns="0" tIns="0" rIns="0" bIns="0" rtlCol="0" anchor="t"/>
          <a:lstStyle/>
          <a:p>
            <a:pPr indent="0" marL="0">
              <a:buNone/>
            </a:pPr>
            <a:r>
              <a:rPr lang="en-US" sz="1150" dirty="0">
                <a:solidFill>
                  <a:schemeClr val="tx2"/>
                </a:solidFill>
              </a:rPr>
              <a:t>por búsqueda con 10M claves, altura 3</a:t>
            </a:r>
            <a:endParaRPr lang="en-US" sz="1150" dirty="0"/>
          </a:p>
        </p:txBody>
      </p:sp>
      <p:sp>
        <p:nvSpPr>
          <p:cNvPr id="17" name="tarjeta S5"/>
          <p:cNvSpPr/>
          <p:nvPr/>
        </p:nvSpPr>
        <p:spPr>
          <a:xfrm>
            <a:off x="8046720" y="1371600"/>
            <a:ext cx="3566160" cy="4754880"/>
          </a:xfrm>
          <a:prstGeom prst="roundRect">
            <a:avLst>
              <a:gd name="adj" fmla="val 2051"/>
            </a:avLst>
          </a:prstGeom>
          <a:solidFill>
            <a:schemeClr val="bg2"/>
          </a:solidFill>
          <a:ln w="12700">
            <a:solidFill>
              <a:schemeClr val="bg2"/>
            </a:solidFill>
            <a:prstDash val="solid"/>
          </a:ln>
        </p:spPr>
      </p:sp>
      <p:sp>
        <p:nvSpPr>
          <p:cNvPr id="18" name="insignia S5"/>
          <p:cNvSpPr/>
          <p:nvPr/>
        </p:nvSpPr>
        <p:spPr>
          <a:xfrm>
            <a:off x="8321040" y="1645920"/>
            <a:ext cx="566928" cy="566928"/>
          </a:xfrm>
          <a:prstGeom prst="roundRect">
            <a:avLst>
              <a:gd name="adj" fmla="val 19355"/>
            </a:avLst>
          </a:prstGeom>
          <a:solidFill>
            <a:schemeClr val="accent3"/>
          </a:solidFill>
          <a:ln w="12700">
            <a:solidFill>
              <a:schemeClr val="accent3"/>
            </a:solidFill>
            <a:prstDash val="solid"/>
          </a:ln>
        </p:spPr>
      </p:sp>
      <p:sp>
        <p:nvSpPr>
          <p:cNvPr id="19" name="texto insignia S5"/>
          <p:cNvSpPr txBox="1"/>
          <p:nvPr/>
        </p:nvSpPr>
        <p:spPr>
          <a:xfrm>
            <a:off x="832104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S5</a:t>
            </a:r>
            <a:endParaRPr lang="en-US" sz="1600" dirty="0"/>
          </a:p>
        </p:txBody>
      </p:sp>
      <p:sp>
        <p:nvSpPr>
          <p:cNvPr id="20" name="Text 18"/>
          <p:cNvSpPr txBox="1"/>
          <p:nvPr/>
        </p:nvSpPr>
        <p:spPr>
          <a:xfrm>
            <a:off x="9052560" y="1627632"/>
            <a:ext cx="2377440" cy="60350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KD-Tree 3D</a:t>
            </a:r>
            <a:endParaRPr lang="en-US" sz="1800" dirty="0"/>
          </a:p>
        </p:txBody>
      </p:sp>
      <p:sp>
        <p:nvSpPr>
          <p:cNvPr id="21" name="Text 19"/>
          <p:cNvSpPr txBox="1"/>
          <p:nvPr/>
        </p:nvSpPr>
        <p:spPr>
          <a:xfrm>
            <a:off x="8321040" y="2377440"/>
            <a:ext cx="3017520" cy="2331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Precio, popularidad y conversión</a:t>
            </a:r>
            <a:endParaRPr lang="en-US" sz="1500" dirty="0"/>
          </a:p>
          <a:p>
            <a:pPr marL="342900" indent="-342900">
              <a:spcAft>
                <a:spcPts val="1000"/>
              </a:spcAft>
              <a:buSzPct val="100000"/>
              <a:buChar char="•"/>
            </a:pPr>
            <a:r>
              <a:rPr lang="en-US" sz="1500" dirty="0">
                <a:solidFill>
                  <a:schemeClr val="tx2"/>
                </a:solidFill>
              </a:rPr>
              <a:t>Corte por mediana en el eje más extendido</a:t>
            </a:r>
            <a:endParaRPr lang="en-US" sz="1500" dirty="0"/>
          </a:p>
          <a:p>
            <a:pPr marL="342900" indent="-342900">
              <a:spcAft>
                <a:spcPts val="1000"/>
              </a:spcAft>
              <a:buSzPct val="100000"/>
              <a:buChar char="•"/>
            </a:pPr>
            <a:r>
              <a:rPr lang="en-US" sz="1500" dirty="0">
                <a:solidFill>
                  <a:schemeClr val="tx2"/>
                </a:solidFill>
              </a:rPr>
              <a:t>Fuerza bruta: 393 ms por consulta</a:t>
            </a:r>
            <a:endParaRPr lang="en-US" sz="1500" dirty="0"/>
          </a:p>
        </p:txBody>
      </p:sp>
      <p:sp>
        <p:nvSpPr>
          <p:cNvPr id="22" name="Text 20"/>
          <p:cNvSpPr txBox="1"/>
          <p:nvPr/>
        </p:nvSpPr>
        <p:spPr>
          <a:xfrm>
            <a:off x="8321040" y="4800600"/>
            <a:ext cx="3017520" cy="68580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537x</a:t>
            </a:r>
            <a:endParaRPr lang="en-US" sz="3000" dirty="0"/>
          </a:p>
        </p:txBody>
      </p:sp>
      <p:sp>
        <p:nvSpPr>
          <p:cNvPr id="23" name="Text 21"/>
          <p:cNvSpPr txBox="1"/>
          <p:nvPr/>
        </p:nvSpPr>
        <p:spPr>
          <a:xfrm>
            <a:off x="8321040" y="5504688"/>
            <a:ext cx="3017520" cy="411480"/>
          </a:xfrm>
          <a:prstGeom prst="rect">
            <a:avLst/>
          </a:prstGeom>
          <a:noFill/>
          <a:ln/>
        </p:spPr>
        <p:txBody>
          <a:bodyPr wrap="square" lIns="0" tIns="0" rIns="0" bIns="0" rtlCol="0" anchor="t"/>
          <a:lstStyle/>
          <a:p>
            <a:pPr indent="0" marL="0">
              <a:buNone/>
            </a:pPr>
            <a:r>
              <a:rPr lang="en-US" sz="1150" dirty="0">
                <a:solidFill>
                  <a:schemeClr val="tx2"/>
                </a:solidFill>
              </a:rPr>
              <a:t>más rápido que fuerza bruta (0.73 ms, n = 10M)</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S6 Filtrado: fraude detectado con unos pocos kilobytes</a:t>
            </a:r>
            <a:endParaRPr lang="en-US" sz="2800" dirty="0"/>
          </a:p>
        </p:txBody>
      </p:sp>
      <p:sp>
        <p:nvSpPr>
          <p:cNvPr id="3" name="insignia S6"/>
          <p:cNvSpPr/>
          <p:nvPr/>
        </p:nvSpPr>
        <p:spPr>
          <a:xfrm>
            <a:off x="548640" y="1417320"/>
            <a:ext cx="566928" cy="566928"/>
          </a:xfrm>
          <a:prstGeom prst="roundRect">
            <a:avLst>
              <a:gd name="adj" fmla="val 19355"/>
            </a:avLst>
          </a:prstGeom>
          <a:solidFill>
            <a:schemeClr val="accent2"/>
          </a:solidFill>
          <a:ln w="12700">
            <a:solidFill>
              <a:schemeClr val="accent2"/>
            </a:solidFill>
            <a:prstDash val="solid"/>
          </a:ln>
        </p:spPr>
      </p:sp>
      <p:sp>
        <p:nvSpPr>
          <p:cNvPr id="4" name="texto insignia S6"/>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S6</a:t>
            </a:r>
            <a:endParaRPr lang="en-US" sz="1600" dirty="0"/>
          </a:p>
        </p:txBody>
      </p:sp>
      <p:sp>
        <p:nvSpPr>
          <p:cNvPr id="5" name="Text 3"/>
          <p:cNvSpPr txBox="1"/>
          <p:nvPr/>
        </p:nvSpPr>
        <p:spPr>
          <a:xfrm>
            <a:off x="1325880" y="1371600"/>
            <a:ext cx="5120640" cy="23774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Bloom Filter: </a:t>
            </a:r>
            <a:pPr indent="0" marL="0">
              <a:spcAft>
                <a:spcPts val="1200"/>
              </a:spcAft>
              <a:buNone/>
            </a:pPr>
            <a:r>
              <a:rPr lang="en-US" sz="1500" dirty="0">
                <a:solidFill>
                  <a:schemeClr val="tx2"/>
                </a:solidFill>
              </a:rPr>
              <a:t>lista negra de tarjetas y dispositivos, p = 1 %, k = 7. Todo positivo se verifica contra el conjunto exacto antes de bloquear.</a:t>
            </a:r>
            <a:endParaRPr lang="en-US" sz="1500" dirty="0"/>
          </a:p>
          <a:p>
            <a:pPr indent="0" marL="0">
              <a:spcAft>
                <a:spcPts val="1200"/>
              </a:spcAft>
              <a:buNone/>
            </a:pPr>
            <a:r>
              <a:rPr lang="en-US" sz="1500" b="1" dirty="0">
                <a:solidFill>
                  <a:schemeClr val="tx1"/>
                </a:solidFill>
              </a:rPr>
              <a:t>Count-Min Sketch: </a:t>
            </a:r>
            <a:pPr indent="0" marL="0">
              <a:spcAft>
                <a:spcPts val="1200"/>
              </a:spcAft>
              <a:buNone/>
            </a:pPr>
            <a:r>
              <a:rPr lang="en-US" sz="1500" dirty="0">
                <a:solidFill>
                  <a:schemeClr val="tx2"/>
                </a:solidFill>
              </a:rPr>
              <a:t>intentos por tarjeta y por dispositivo en una ventana de 10 minutos (anillo de 10 sub-sketches). Alerta con más de 12 o 20 intentos.</a:t>
            </a:r>
            <a:endParaRPr lang="en-US" sz="1500" dirty="0"/>
          </a:p>
        </p:txBody>
      </p:sp>
      <p:sp>
        <p:nvSpPr>
          <p:cNvPr id="6" name="Text 4"/>
          <p:cNvSpPr txBox="1"/>
          <p:nvPr/>
        </p:nvSpPr>
        <p:spPr>
          <a:xfrm>
            <a:off x="548640" y="3931920"/>
            <a:ext cx="283464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99.998 %</a:t>
            </a:r>
            <a:endParaRPr lang="en-US" sz="3600" dirty="0"/>
          </a:p>
        </p:txBody>
      </p:sp>
      <p:sp>
        <p:nvSpPr>
          <p:cNvPr id="7" name="Text 5"/>
          <p:cNvSpPr txBox="1"/>
          <p:nvPr/>
        </p:nvSpPr>
        <p:spPr>
          <a:xfrm>
            <a:off x="548640" y="4681728"/>
            <a:ext cx="2834640" cy="502920"/>
          </a:xfrm>
          <a:prstGeom prst="rect">
            <a:avLst/>
          </a:prstGeom>
          <a:noFill/>
          <a:ln/>
        </p:spPr>
        <p:txBody>
          <a:bodyPr wrap="square" lIns="0" tIns="0" rIns="0" bIns="0" rtlCol="0" anchor="t"/>
          <a:lstStyle/>
          <a:p>
            <a:pPr indent="0" marL="0">
              <a:buNone/>
            </a:pPr>
            <a:r>
              <a:rPr lang="en-US" sz="1250" dirty="0">
                <a:solidFill>
                  <a:schemeClr val="tx2"/>
                </a:solidFill>
              </a:rPr>
              <a:t>precisión del filtro</a:t>
            </a:r>
            <a:endParaRPr lang="en-US" sz="1250" dirty="0"/>
          </a:p>
        </p:txBody>
      </p:sp>
      <p:sp>
        <p:nvSpPr>
          <p:cNvPr id="8" name="Text 6"/>
          <p:cNvSpPr txBox="1"/>
          <p:nvPr/>
        </p:nvSpPr>
        <p:spPr>
          <a:xfrm>
            <a:off x="3566160" y="3931920"/>
            <a:ext cx="283464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90.8 %</a:t>
            </a:r>
            <a:endParaRPr lang="en-US" sz="3600" dirty="0"/>
          </a:p>
        </p:txBody>
      </p:sp>
      <p:sp>
        <p:nvSpPr>
          <p:cNvPr id="9" name="Text 7"/>
          <p:cNvSpPr txBox="1"/>
          <p:nvPr/>
        </p:nvSpPr>
        <p:spPr>
          <a:xfrm>
            <a:off x="3566160" y="4681728"/>
            <a:ext cx="2834640" cy="502920"/>
          </a:xfrm>
          <a:prstGeom prst="rect">
            <a:avLst/>
          </a:prstGeom>
          <a:noFill/>
          <a:ln/>
        </p:spPr>
        <p:txBody>
          <a:bodyPr wrap="square" lIns="0" tIns="0" rIns="0" bIns="0" rtlCol="0" anchor="t"/>
          <a:lstStyle/>
          <a:p>
            <a:pPr indent="0" marL="0">
              <a:buNone/>
            </a:pPr>
            <a:r>
              <a:rPr lang="en-US" sz="1250" dirty="0">
                <a:solidFill>
                  <a:schemeClr val="tx2"/>
                </a:solidFill>
              </a:rPr>
              <a:t>recall: las primeras compras de cada ráfaga pasan</a:t>
            </a:r>
            <a:endParaRPr lang="en-US" sz="1250" dirty="0"/>
          </a:p>
        </p:txBody>
      </p:sp>
      <p:sp>
        <p:nvSpPr>
          <p:cNvPr id="10" name="Text 8"/>
          <p:cNvSpPr txBox="1"/>
          <p:nvPr/>
        </p:nvSpPr>
        <p:spPr>
          <a:xfrm>
            <a:off x="548640" y="5166360"/>
            <a:ext cx="283464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3.3 KB</a:t>
            </a:r>
            <a:endParaRPr lang="en-US" sz="3600" dirty="0"/>
          </a:p>
        </p:txBody>
      </p:sp>
      <p:sp>
        <p:nvSpPr>
          <p:cNvPr id="11" name="Text 9"/>
          <p:cNvSpPr txBox="1"/>
          <p:nvPr/>
        </p:nvSpPr>
        <p:spPr>
          <a:xfrm>
            <a:off x="548640" y="5916168"/>
            <a:ext cx="2834640" cy="502920"/>
          </a:xfrm>
          <a:prstGeom prst="rect">
            <a:avLst/>
          </a:prstGeom>
          <a:noFill/>
          <a:ln/>
        </p:spPr>
        <p:txBody>
          <a:bodyPr wrap="square" lIns="0" tIns="0" rIns="0" bIns="0" rtlCol="0" anchor="t"/>
          <a:lstStyle/>
          <a:p>
            <a:pPr indent="0" marL="0">
              <a:buNone/>
            </a:pPr>
            <a:r>
              <a:rPr lang="en-US" sz="1250" dirty="0">
                <a:solidFill>
                  <a:schemeClr val="tx2"/>
                </a:solidFill>
              </a:rPr>
              <a:t>memoria del Bloom</a:t>
            </a:r>
            <a:endParaRPr lang="en-US" sz="1250" dirty="0"/>
          </a:p>
        </p:txBody>
      </p:sp>
      <p:sp>
        <p:nvSpPr>
          <p:cNvPr id="12" name="Text 10"/>
          <p:cNvSpPr txBox="1"/>
          <p:nvPr/>
        </p:nvSpPr>
        <p:spPr>
          <a:xfrm>
            <a:off x="3566160" y="5166360"/>
            <a:ext cx="283464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10</a:t>
            </a:r>
            <a:endParaRPr lang="en-US" sz="3600" dirty="0"/>
          </a:p>
        </p:txBody>
      </p:sp>
      <p:sp>
        <p:nvSpPr>
          <p:cNvPr id="13" name="Text 11"/>
          <p:cNvSpPr txBox="1"/>
          <p:nvPr/>
        </p:nvSpPr>
        <p:spPr>
          <a:xfrm>
            <a:off x="3566160" y="5916168"/>
            <a:ext cx="2834640" cy="502920"/>
          </a:xfrm>
          <a:prstGeom prst="rect">
            <a:avLst/>
          </a:prstGeom>
          <a:noFill/>
          <a:ln/>
        </p:spPr>
        <p:txBody>
          <a:bodyPr wrap="square" lIns="0" tIns="0" rIns="0" bIns="0" rtlCol="0" anchor="t"/>
          <a:lstStyle/>
          <a:p>
            <a:pPr indent="0" marL="0">
              <a:buNone/>
            </a:pPr>
            <a:r>
              <a:rPr lang="en-US" sz="1250" dirty="0">
                <a:solidFill>
                  <a:schemeClr val="tx2"/>
                </a:solidFill>
              </a:rPr>
              <a:t>falsos positivos, descartados por la verificación</a:t>
            </a:r>
            <a:endParaRPr lang="en-US" sz="1250" dirty="0"/>
          </a:p>
        </p:txBody>
      </p:sp>
      <p:graphicFrame>
        <p:nvGraphicFramePr>
          <p:cNvPr id="14" name="Chart 0" descr=""/>
          <p:cNvGraphicFramePr/>
          <p:nvPr/>
        </p:nvGraphicFramePr>
        <p:xfrm>
          <a:off x="6583680" y="1371600"/>
          <a:ext cx="5029200" cy="4663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S7 Similitud: candidatos en milisegundos sin comparar todo</a:t>
            </a:r>
            <a:endParaRPr lang="en-US" sz="2800" dirty="0"/>
          </a:p>
        </p:txBody>
      </p:sp>
      <p:sp>
        <p:nvSpPr>
          <p:cNvPr id="3" name="insignia S7"/>
          <p:cNvSpPr/>
          <p:nvPr/>
        </p:nvSpPr>
        <p:spPr>
          <a:xfrm>
            <a:off x="548640" y="1417320"/>
            <a:ext cx="566928" cy="566928"/>
          </a:xfrm>
          <a:prstGeom prst="roundRect">
            <a:avLst>
              <a:gd name="adj" fmla="val 19355"/>
            </a:avLst>
          </a:prstGeom>
          <a:solidFill>
            <a:schemeClr val="accent4"/>
          </a:solidFill>
          <a:ln w="12700">
            <a:solidFill>
              <a:schemeClr val="accent4"/>
            </a:solidFill>
            <a:prstDash val="solid"/>
          </a:ln>
        </p:spPr>
      </p:sp>
      <p:sp>
        <p:nvSpPr>
          <p:cNvPr id="4" name="texto insignia S7"/>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S7</a:t>
            </a:r>
            <a:endParaRPr lang="en-US" sz="1600" dirty="0"/>
          </a:p>
        </p:txBody>
      </p:sp>
      <p:sp>
        <p:nvSpPr>
          <p:cNvPr id="5" name="Text 3"/>
          <p:cNvSpPr txBox="1"/>
          <p:nvPr/>
        </p:nvSpPr>
        <p:spPr>
          <a:xfrm>
            <a:off x="1325880" y="1371600"/>
            <a:ext cx="5120640" cy="256032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MinHash + LSH: </a:t>
            </a:r>
            <a:pPr indent="0" marL="0">
              <a:spcAft>
                <a:spcPts val="1200"/>
              </a:spcAft>
              <a:buNone/>
            </a:pPr>
            <a:r>
              <a:rPr lang="en-US" sz="1500" dirty="0">
                <a:solidFill>
                  <a:schemeClr val="tx2"/>
                </a:solidFill>
              </a:rPr>
              <a:t>cada producto es el conjunto de usuarios que lo compraron o lo pusieron en el carrito. 128 permutaciones en 32 bandas de 4 filas (umbral de Jaccard ≈ 0,42).</a:t>
            </a:r>
            <a:endParaRPr lang="en-US" sz="1500" dirty="0"/>
          </a:p>
          <a:p>
            <a:pPr indent="0" marL="0">
              <a:spcAft>
                <a:spcPts val="1200"/>
              </a:spcAft>
              <a:buNone/>
            </a:pPr>
            <a:r>
              <a:rPr lang="en-US" sz="1500" b="1" dirty="0">
                <a:solidFill>
                  <a:schemeClr val="tx1"/>
                </a:solidFill>
              </a:rPr>
              <a:t>IVF sobre embeddings SVD: </a:t>
            </a:r>
            <a:pPr indent="0" marL="0">
              <a:spcAft>
                <a:spcPts val="1200"/>
              </a:spcAft>
              <a:buNone/>
            </a:pPr>
            <a:r>
              <a:rPr lang="en-US" sz="1500" dirty="0">
                <a:solidFill>
                  <a:schemeClr val="tx2"/>
                </a:solidFill>
              </a:rPr>
              <a:t>32 dimensiones de la matriz usuario × producto; k-means en celdas y búsqueda solo en las nprobe más cercanas. HNSW implementado como referencia.</a:t>
            </a:r>
            <a:endParaRPr lang="en-US" sz="1500" dirty="0"/>
          </a:p>
        </p:txBody>
      </p:sp>
      <p:sp>
        <p:nvSpPr>
          <p:cNvPr id="6" name="Text 4"/>
          <p:cNvSpPr txBox="1"/>
          <p:nvPr/>
        </p:nvSpPr>
        <p:spPr>
          <a:xfrm>
            <a:off x="548640" y="3840480"/>
            <a:ext cx="2834640" cy="731520"/>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295x</a:t>
            </a:r>
            <a:endParaRPr lang="en-US" sz="3600" dirty="0"/>
          </a:p>
        </p:txBody>
      </p:sp>
      <p:sp>
        <p:nvSpPr>
          <p:cNvPr id="7" name="Text 5"/>
          <p:cNvSpPr txBox="1"/>
          <p:nvPr/>
        </p:nvSpPr>
        <p:spPr>
          <a:xfrm>
            <a:off x="548640" y="4590288"/>
            <a:ext cx="2834640" cy="502920"/>
          </a:xfrm>
          <a:prstGeom prst="rect">
            <a:avLst/>
          </a:prstGeom>
          <a:noFill/>
          <a:ln/>
        </p:spPr>
        <p:txBody>
          <a:bodyPr wrap="square" lIns="0" tIns="0" rIns="0" bIns="0" rtlCol="0" anchor="t"/>
          <a:lstStyle/>
          <a:p>
            <a:pPr indent="0" marL="0">
              <a:buNone/>
            </a:pPr>
            <a:r>
              <a:rPr lang="en-US" sz="1250" dirty="0">
                <a:solidFill>
                  <a:schemeClr val="tx2"/>
                </a:solidFill>
              </a:rPr>
              <a:t>LSH frente a fuerza bruta con 1M conjuntos</a:t>
            </a:r>
            <a:endParaRPr lang="en-US" sz="1250" dirty="0"/>
          </a:p>
        </p:txBody>
      </p:sp>
      <p:sp>
        <p:nvSpPr>
          <p:cNvPr id="8" name="Text 6"/>
          <p:cNvSpPr txBox="1"/>
          <p:nvPr/>
        </p:nvSpPr>
        <p:spPr>
          <a:xfrm>
            <a:off x="3566160" y="3840480"/>
            <a:ext cx="2834640" cy="731520"/>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1.00</a:t>
            </a:r>
            <a:endParaRPr lang="en-US" sz="3600" dirty="0"/>
          </a:p>
        </p:txBody>
      </p:sp>
      <p:sp>
        <p:nvSpPr>
          <p:cNvPr id="9" name="Text 7"/>
          <p:cNvSpPr txBox="1"/>
          <p:nvPr/>
        </p:nvSpPr>
        <p:spPr>
          <a:xfrm>
            <a:off x="3566160" y="4590288"/>
            <a:ext cx="2834640" cy="502920"/>
          </a:xfrm>
          <a:prstGeom prst="rect">
            <a:avLst/>
          </a:prstGeom>
          <a:noFill/>
          <a:ln/>
        </p:spPr>
        <p:txBody>
          <a:bodyPr wrap="square" lIns="0" tIns="0" rIns="0" bIns="0" rtlCol="0" anchor="t"/>
          <a:lstStyle/>
          <a:p>
            <a:pPr indent="0" marL="0">
              <a:buNone/>
            </a:pPr>
            <a:r>
              <a:rPr lang="en-US" sz="1250" dirty="0">
                <a:solidFill>
                  <a:schemeClr val="tx2"/>
                </a:solidFill>
              </a:rPr>
              <a:t>recall@10 de vecinos con Jaccard ≥ 0,5</a:t>
            </a:r>
            <a:endParaRPr lang="en-US" sz="1250" dirty="0"/>
          </a:p>
        </p:txBody>
      </p:sp>
      <p:sp>
        <p:nvSpPr>
          <p:cNvPr id="10" name="Text 8"/>
          <p:cNvSpPr txBox="1"/>
          <p:nvPr/>
        </p:nvSpPr>
        <p:spPr>
          <a:xfrm>
            <a:off x="548640" y="5029200"/>
            <a:ext cx="283464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226x</a:t>
            </a:r>
            <a:endParaRPr lang="en-US" sz="3600" dirty="0"/>
          </a:p>
        </p:txBody>
      </p:sp>
      <p:sp>
        <p:nvSpPr>
          <p:cNvPr id="11" name="Text 9"/>
          <p:cNvSpPr txBox="1"/>
          <p:nvPr/>
        </p:nvSpPr>
        <p:spPr>
          <a:xfrm>
            <a:off x="548640" y="5779008"/>
            <a:ext cx="2834640" cy="502920"/>
          </a:xfrm>
          <a:prstGeom prst="rect">
            <a:avLst/>
          </a:prstGeom>
          <a:noFill/>
          <a:ln/>
        </p:spPr>
        <p:txBody>
          <a:bodyPr wrap="square" lIns="0" tIns="0" rIns="0" bIns="0" rtlCol="0" anchor="t"/>
          <a:lstStyle/>
          <a:p>
            <a:pPr indent="0" marL="0">
              <a:buNone/>
            </a:pPr>
            <a:r>
              <a:rPr lang="en-US" sz="1250" dirty="0">
                <a:solidFill>
                  <a:schemeClr val="tx2"/>
                </a:solidFill>
              </a:rPr>
              <a:t>IVF frente a exacto con 10M vectores</a:t>
            </a:r>
            <a:endParaRPr lang="en-US" sz="1250" dirty="0"/>
          </a:p>
        </p:txBody>
      </p:sp>
      <p:sp>
        <p:nvSpPr>
          <p:cNvPr id="12" name="Text 10"/>
          <p:cNvSpPr txBox="1"/>
          <p:nvPr/>
        </p:nvSpPr>
        <p:spPr>
          <a:xfrm>
            <a:off x="3566160" y="5029200"/>
            <a:ext cx="283464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0.95</a:t>
            </a:r>
            <a:endParaRPr lang="en-US" sz="3600" dirty="0"/>
          </a:p>
        </p:txBody>
      </p:sp>
      <p:sp>
        <p:nvSpPr>
          <p:cNvPr id="13" name="Text 11"/>
          <p:cNvSpPr txBox="1"/>
          <p:nvPr/>
        </p:nvSpPr>
        <p:spPr>
          <a:xfrm>
            <a:off x="3566160" y="5779008"/>
            <a:ext cx="2834640" cy="502920"/>
          </a:xfrm>
          <a:prstGeom prst="rect">
            <a:avLst/>
          </a:prstGeom>
          <a:noFill/>
          <a:ln/>
        </p:spPr>
        <p:txBody>
          <a:bodyPr wrap="square" lIns="0" tIns="0" rIns="0" bIns="0" rtlCol="0" anchor="t"/>
          <a:lstStyle/>
          <a:p>
            <a:pPr indent="0" marL="0">
              <a:buNone/>
            </a:pPr>
            <a:r>
              <a:rPr lang="en-US" sz="1250" dirty="0">
                <a:solidFill>
                  <a:schemeClr val="tx2"/>
                </a:solidFill>
              </a:rPr>
              <a:t>recall@10 del IVF</a:t>
            </a:r>
            <a:endParaRPr lang="en-US" sz="1250" dirty="0"/>
          </a:p>
        </p:txBody>
      </p:sp>
      <p:graphicFrame>
        <p:nvGraphicFramePr>
          <p:cNvPr id="14" name="Chart 0" descr=""/>
          <p:cNvGraphicFramePr/>
          <p:nvPr/>
        </p:nvGraphicFramePr>
        <p:xfrm>
          <a:off x="6583680" y="1371600"/>
          <a:ext cx="5029200" cy="4663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S8 Grafo de co-compra: quién influye y qué se compra junto</a:t>
            </a:r>
            <a:endParaRPr lang="en-US" sz="2800" dirty="0"/>
          </a:p>
        </p:txBody>
      </p:sp>
      <p:sp>
        <p:nvSpPr>
          <p:cNvPr id="3" name="insignia S8"/>
          <p:cNvSpPr/>
          <p:nvPr/>
        </p:nvSpPr>
        <p:spPr>
          <a:xfrm>
            <a:off x="548640" y="1417320"/>
            <a:ext cx="566928" cy="566928"/>
          </a:xfrm>
          <a:prstGeom prst="roundRect">
            <a:avLst>
              <a:gd name="adj" fmla="val 19355"/>
            </a:avLst>
          </a:prstGeom>
          <a:solidFill>
            <a:schemeClr val="accent5"/>
          </a:solidFill>
          <a:ln w="12700">
            <a:solidFill>
              <a:schemeClr val="accent5"/>
            </a:solidFill>
            <a:prstDash val="solid"/>
          </a:ln>
        </p:spPr>
      </p:sp>
      <p:sp>
        <p:nvSpPr>
          <p:cNvPr id="4" name="texto insignia S8"/>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S8</a:t>
            </a:r>
            <a:endParaRPr lang="en-US" sz="1600" dirty="0"/>
          </a:p>
        </p:txBody>
      </p:sp>
      <p:sp>
        <p:nvSpPr>
          <p:cNvPr id="5" name="Text 3"/>
          <p:cNvSpPr txBox="1"/>
          <p:nvPr/>
        </p:nvSpPr>
        <p:spPr>
          <a:xfrm>
            <a:off x="1325880" y="1371600"/>
            <a:ext cx="5120640" cy="256032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PageRank </a:t>
            </a:r>
            <a:pPr indent="0" marL="0">
              <a:spcAft>
                <a:spcPts val="1200"/>
              </a:spcAft>
              <a:buNone/>
            </a:pPr>
            <a:r>
              <a:rPr lang="en-US" sz="1500" dirty="0">
                <a:solidFill>
                  <a:schemeClr val="tx2"/>
                </a:solidFill>
              </a:rPr>
              <a:t>por iteración de potencias sobre CSR (α = 0,85), validado contra NetworkX. Premia estar conectado con productos centrales, no solo tener muchas co-compras.</a:t>
            </a:r>
            <a:endParaRPr lang="en-US" sz="1500" dirty="0"/>
          </a:p>
          <a:p>
            <a:pPr indent="0" marL="0">
              <a:spcAft>
                <a:spcPts val="1200"/>
              </a:spcAft>
              <a:buNone/>
            </a:pPr>
            <a:r>
              <a:rPr lang="en-US" sz="1500" b="1" dirty="0">
                <a:solidFill>
                  <a:schemeClr val="tx1"/>
                </a:solidFill>
              </a:rPr>
              <a:t>Louvain frente a Label Propagation: </a:t>
            </a:r>
            <a:pPr indent="0" marL="0">
              <a:spcAft>
                <a:spcPts val="1200"/>
              </a:spcAft>
              <a:buNone/>
            </a:pPr>
            <a:r>
              <a:rPr lang="en-US" sz="1500" dirty="0">
                <a:solidFill>
                  <a:schemeClr val="tx2"/>
                </a:solidFill>
              </a:rPr>
              <a:t>Louvain maximiza la modularidad; LPA es casi lineal pero sin función objetivo y menos estable entre semillas.</a:t>
            </a:r>
            <a:endParaRPr lang="en-US" sz="1500" dirty="0"/>
          </a:p>
        </p:txBody>
      </p:sp>
      <p:sp>
        <p:nvSpPr>
          <p:cNvPr id="6" name="Text 4"/>
          <p:cNvSpPr txBox="1"/>
          <p:nvPr/>
        </p:nvSpPr>
        <p:spPr>
          <a:xfrm>
            <a:off x="548640" y="3840480"/>
            <a:ext cx="2834640" cy="731520"/>
          </a:xfrm>
          <a:prstGeom prst="rect">
            <a:avLst/>
          </a:prstGeom>
          <a:noFill/>
          <a:ln/>
        </p:spPr>
        <p:txBody>
          <a:bodyPr wrap="square" lIns="0" tIns="0" rIns="0" bIns="0" rtlCol="0" anchor="b"/>
          <a:lstStyle/>
          <a:p>
            <a:pPr indent="0" marL="0">
              <a:buNone/>
            </a:pPr>
            <a:r>
              <a:rPr lang="en-US" sz="3600" b="1" dirty="0">
                <a:solidFill>
                  <a:schemeClr val="accent5"/>
                </a:solidFill>
                <a:latin typeface="Cambria" pitchFamily="34" charset="0"/>
                <a:ea typeface="Cambria" pitchFamily="34" charset="-122"/>
                <a:cs typeface="Cambria" pitchFamily="34" charset="-120"/>
              </a:rPr>
              <a:t>58,820</a:t>
            </a:r>
            <a:endParaRPr lang="en-US" sz="3600" dirty="0"/>
          </a:p>
        </p:txBody>
      </p:sp>
      <p:sp>
        <p:nvSpPr>
          <p:cNvPr id="7" name="Text 5"/>
          <p:cNvSpPr txBox="1"/>
          <p:nvPr/>
        </p:nvSpPr>
        <p:spPr>
          <a:xfrm>
            <a:off x="548640" y="4590288"/>
            <a:ext cx="2834640" cy="502920"/>
          </a:xfrm>
          <a:prstGeom prst="rect">
            <a:avLst/>
          </a:prstGeom>
          <a:noFill/>
          <a:ln/>
        </p:spPr>
        <p:txBody>
          <a:bodyPr wrap="square" lIns="0" tIns="0" rIns="0" bIns="0" rtlCol="0" anchor="t"/>
          <a:lstStyle/>
          <a:p>
            <a:pPr indent="0" marL="0">
              <a:buNone/>
            </a:pPr>
            <a:r>
              <a:rPr lang="en-US" sz="1250" dirty="0">
                <a:solidFill>
                  <a:schemeClr val="tx2"/>
                </a:solidFill>
              </a:rPr>
              <a:t>productos y 258,638 aristas en la corrida de 10M</a:t>
            </a:r>
            <a:endParaRPr lang="en-US" sz="1250" dirty="0"/>
          </a:p>
        </p:txBody>
      </p:sp>
      <p:sp>
        <p:nvSpPr>
          <p:cNvPr id="8" name="Text 6"/>
          <p:cNvSpPr txBox="1"/>
          <p:nvPr/>
        </p:nvSpPr>
        <p:spPr>
          <a:xfrm>
            <a:off x="3566160" y="3840480"/>
            <a:ext cx="2834640" cy="731520"/>
          </a:xfrm>
          <a:prstGeom prst="rect">
            <a:avLst/>
          </a:prstGeom>
          <a:noFill/>
          <a:ln/>
        </p:spPr>
        <p:txBody>
          <a:bodyPr wrap="square" lIns="0" tIns="0" rIns="0" bIns="0" rtlCol="0" anchor="b"/>
          <a:lstStyle/>
          <a:p>
            <a:pPr indent="0" marL="0">
              <a:buNone/>
            </a:pPr>
            <a:r>
              <a:rPr lang="en-US" sz="3600" b="1" dirty="0">
                <a:solidFill>
                  <a:schemeClr val="accent5"/>
                </a:solidFill>
                <a:latin typeface="Cambria" pitchFamily="34" charset="0"/>
                <a:ea typeface="Cambria" pitchFamily="34" charset="-122"/>
                <a:cs typeface="Cambria" pitchFamily="34" charset="-120"/>
              </a:rPr>
              <a:t>0.62 s</a:t>
            </a:r>
            <a:endParaRPr lang="en-US" sz="3600" dirty="0"/>
          </a:p>
        </p:txBody>
      </p:sp>
      <p:sp>
        <p:nvSpPr>
          <p:cNvPr id="9" name="Text 7"/>
          <p:cNvSpPr txBox="1"/>
          <p:nvPr/>
        </p:nvSpPr>
        <p:spPr>
          <a:xfrm>
            <a:off x="3566160" y="4590288"/>
            <a:ext cx="2834640" cy="502920"/>
          </a:xfrm>
          <a:prstGeom prst="rect">
            <a:avLst/>
          </a:prstGeom>
          <a:noFill/>
          <a:ln/>
        </p:spPr>
        <p:txBody>
          <a:bodyPr wrap="square" lIns="0" tIns="0" rIns="0" bIns="0" rtlCol="0" anchor="t"/>
          <a:lstStyle/>
          <a:p>
            <a:pPr indent="0" marL="0">
              <a:buNone/>
            </a:pPr>
            <a:r>
              <a:rPr lang="en-US" sz="1250" dirty="0">
                <a:solidFill>
                  <a:schemeClr val="tx2"/>
                </a:solidFill>
              </a:rPr>
              <a:t>PageRank, 74 iteraciones</a:t>
            </a:r>
            <a:endParaRPr lang="en-US" sz="1250" dirty="0"/>
          </a:p>
        </p:txBody>
      </p:sp>
      <p:sp>
        <p:nvSpPr>
          <p:cNvPr id="10" name="Text 8"/>
          <p:cNvSpPr txBox="1"/>
          <p:nvPr/>
        </p:nvSpPr>
        <p:spPr>
          <a:xfrm>
            <a:off x="548640" y="5029200"/>
            <a:ext cx="283464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20.7 s</a:t>
            </a:r>
            <a:endParaRPr lang="en-US" sz="3600" dirty="0"/>
          </a:p>
        </p:txBody>
      </p:sp>
      <p:sp>
        <p:nvSpPr>
          <p:cNvPr id="11" name="Text 9"/>
          <p:cNvSpPr txBox="1"/>
          <p:nvPr/>
        </p:nvSpPr>
        <p:spPr>
          <a:xfrm>
            <a:off x="548640" y="5779008"/>
            <a:ext cx="2834640" cy="502920"/>
          </a:xfrm>
          <a:prstGeom prst="rect">
            <a:avLst/>
          </a:prstGeom>
          <a:noFill/>
          <a:ln/>
        </p:spPr>
        <p:txBody>
          <a:bodyPr wrap="square" lIns="0" tIns="0" rIns="0" bIns="0" rtlCol="0" anchor="t"/>
          <a:lstStyle/>
          <a:p>
            <a:pPr indent="0" marL="0">
              <a:buNone/>
            </a:pPr>
            <a:r>
              <a:rPr lang="en-US" sz="1250" dirty="0">
                <a:solidFill>
                  <a:schemeClr val="tx2"/>
                </a:solidFill>
              </a:rPr>
              <a:t>PageRank con 9.9M aristas</a:t>
            </a:r>
            <a:endParaRPr lang="en-US" sz="1250" dirty="0"/>
          </a:p>
        </p:txBody>
      </p:sp>
      <p:sp>
        <p:nvSpPr>
          <p:cNvPr id="12" name="Text 10"/>
          <p:cNvSpPr txBox="1"/>
          <p:nvPr/>
        </p:nvSpPr>
        <p:spPr>
          <a:xfrm>
            <a:off x="3566160" y="5029200"/>
            <a:ext cx="283464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0.99</a:t>
            </a:r>
            <a:endParaRPr lang="en-US" sz="3600" dirty="0"/>
          </a:p>
        </p:txBody>
      </p:sp>
      <p:sp>
        <p:nvSpPr>
          <p:cNvPr id="13" name="Text 11"/>
          <p:cNvSpPr txBox="1"/>
          <p:nvPr/>
        </p:nvSpPr>
        <p:spPr>
          <a:xfrm>
            <a:off x="3566160" y="5779008"/>
            <a:ext cx="2834640" cy="502920"/>
          </a:xfrm>
          <a:prstGeom prst="rect">
            <a:avLst/>
          </a:prstGeom>
          <a:noFill/>
          <a:ln/>
        </p:spPr>
        <p:txBody>
          <a:bodyPr wrap="square" lIns="0" tIns="0" rIns="0" bIns="0" rtlCol="0" anchor="t"/>
          <a:lstStyle/>
          <a:p>
            <a:pPr indent="0" marL="0">
              <a:buNone/>
            </a:pPr>
            <a:r>
              <a:rPr lang="en-US" sz="1250" dirty="0">
                <a:solidFill>
                  <a:schemeClr val="tx2"/>
                </a:solidFill>
              </a:rPr>
              <a:t>correlación de Spearman con el grado</a:t>
            </a:r>
            <a:endParaRPr lang="en-US" sz="1250" dirty="0"/>
          </a:p>
        </p:txBody>
      </p:sp>
      <p:graphicFrame>
        <p:nvGraphicFramePr>
          <p:cNvPr id="14" name="Chart 0" descr=""/>
          <p:cNvGraphicFramePr/>
          <p:nvPr/>
        </p:nvGraphicFramePr>
        <p:xfrm>
          <a:off x="6583680" y="1371600"/>
          <a:ext cx="5029200" cy="4663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Escalabilidad: las pendientes medidas siguen la teoría</a:t>
            </a:r>
            <a:endParaRPr lang="en-US" sz="2800" dirty="0"/>
          </a:p>
        </p:txBody>
      </p:sp>
      <p:pic>
        <p:nvPicPr>
          <p:cNvPr id="3" name="Image 0" descr="Tiempo frente a n en log-log para las estructuras base, de 1K a 10M">    </p:cNvPr>
          <p:cNvPicPr>
            <a:picLocks noChangeAspect="1"/>
          </p:cNvPicPr>
          <p:nvPr/>
        </p:nvPicPr>
        <p:blipFill>
          <a:blip r:embed="rId1"/>
          <a:stretch>
            <a:fillRect/>
          </a:stretch>
        </p:blipFill>
        <p:spPr>
          <a:xfrm>
            <a:off x="548640" y="1325880"/>
            <a:ext cx="6949440" cy="4168961"/>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26680" y="1325880"/>
          <a:ext cx="3931920" cy="914400"/>
        </p:xfrm>
        <a:graphic>
          <a:graphicData uri="http://schemas.openxmlformats.org/drawingml/2006/table">
            <a:tbl>
              <a:tblPr/>
              <a:tblGrid>
                <a:gridCol w="2148840"/>
                <a:gridCol w="594360"/>
                <a:gridCol w="1188720"/>
              </a:tblGrid>
              <a:tr h="274320">
                <a:tc>
                  <a:txBody>
                    <a:bodyPr/>
                    <a:lstStyle/>
                    <a:p>
                      <a:pPr indent="0" marL="0">
                        <a:buNone/>
                      </a:pPr>
                      <a:r>
                        <a:rPr lang="en-US" sz="950" b="1" dirty="0">
                          <a:solidFill>
                            <a:schemeClr val="tx1"/>
                          </a:solidFill>
                        </a:rPr>
                        <a:t>Estructura</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chemeClr val="bg2"/>
                    </a:solidFill>
                  </a:tcPr>
                </a:tc>
                <a:tc>
                  <a:txBody>
                    <a:bodyPr/>
                    <a:lstStyle/>
                    <a:p>
                      <a:pPr indent="0" marL="0">
                        <a:buNone/>
                      </a:pPr>
                      <a:r>
                        <a:rPr lang="en-US" sz="950" b="1" dirty="0">
                          <a:solidFill>
                            <a:schemeClr val="tx1"/>
                          </a:solidFill>
                        </a:rPr>
                        <a:t>Pend.</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chemeClr val="bg2"/>
                    </a:solidFill>
                  </a:tcPr>
                </a:tc>
                <a:tc>
                  <a:txBody>
                    <a:bodyPr/>
                    <a:lstStyle/>
                    <a:p>
                      <a:pPr indent="0" marL="0">
                        <a:buNone/>
                      </a:pPr>
                      <a:r>
                        <a:rPr lang="en-US" sz="950" b="1" dirty="0">
                          <a:solidFill>
                            <a:schemeClr val="tx1"/>
                          </a:solidFill>
                        </a:rPr>
                        <a:t>Esperado</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chemeClr val="bg2"/>
                    </a:solidFill>
                  </a:tcPr>
                </a:tc>
              </a:tr>
              <a:tr h="274320">
                <a:tc>
                  <a:txBody>
                    <a:bodyPr/>
                    <a:lstStyle/>
                    <a:p>
                      <a:pPr indent="0" marL="0">
                        <a:buNone/>
                      </a:pPr>
                      <a:r>
                        <a:rPr lang="en-US" sz="950" dirty="0">
                          <a:solidFill>
                            <a:schemeClr val="tx2"/>
                          </a:solidFill>
                        </a:rPr>
                        <a:t>LinkedQueue enqueue+dequeue</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1.12</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MergeSort sort</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1.21</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 log 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BinaryHeap push+pop</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1.22</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 log 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HashTable put+get</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1.08</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LRUCache get/put</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0.94</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BPlusTree bulk_load</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0.89</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 / O(n log 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BPlusTree insert</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1.36</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 / O(n log 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KDTree knn10(100 consultas)</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0.11</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O(log n) vs O(n)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KNN fuerza bruta knn10(100 consultas)</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1.02</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O(log n) vs O(n)</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BPlusTree search (por consulta)</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0.32</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O(log_B n) ≈ 0</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r h="274320">
                <a:tc>
                  <a:txBody>
                    <a:bodyPr/>
                    <a:lstStyle/>
                    <a:p>
                      <a:pPr indent="0" marL="0">
                        <a:buNone/>
                      </a:pPr>
                      <a:r>
                        <a:rPr lang="en-US" sz="950" dirty="0">
                          <a:solidFill>
                            <a:schemeClr val="tx2"/>
                          </a:solidFill>
                        </a:rPr>
                        <a:t>BloomFilter insert+query (vect.)</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1.09</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c>
                  <a:txBody>
                    <a:bodyPr/>
                    <a:lstStyle/>
                    <a:p>
                      <a:pPr indent="0" marL="0">
                        <a:buNone/>
                      </a:pPr>
                      <a:r>
                        <a:rPr lang="en-US" sz="950" dirty="0">
                          <a:solidFill>
                            <a:schemeClr val="tx2"/>
                          </a:solidFill>
                        </a:rPr>
                        <a:t>O(n·k)</a:t>
                      </a:r>
                      <a:endParaRPr lang="en-US" sz="950" dirty="0"/>
                    </a:p>
                  </a:txBody>
                  <a:tcPr marL="36576" marR="36576" marT="36576" marB="36576">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tcPr>
                </a:tc>
              </a:tr>
            </a:tbl>
          </a:graphicData>
        </a:graphic>
      </p:graphicFrame>
      <p:sp>
        <p:nvSpPr>
          <p:cNvPr id="5" name="Text 1"/>
          <p:cNvSpPr txBox="1"/>
          <p:nvPr/>
        </p:nvSpPr>
        <p:spPr>
          <a:xfrm>
            <a:off x="548640" y="6035040"/>
            <a:ext cx="6949440" cy="320040"/>
          </a:xfrm>
          <a:prstGeom prst="rect">
            <a:avLst/>
          </a:prstGeom>
          <a:noFill/>
          <a:ln/>
        </p:spPr>
        <p:txBody>
          <a:bodyPr wrap="square" lIns="0" tIns="0" rIns="0" bIns="0" rtlCol="0" anchor="ctr"/>
          <a:lstStyle/>
          <a:p>
            <a:pPr indent="0" marL="0">
              <a:buNone/>
            </a:pPr>
            <a:r>
              <a:rPr lang="en-US" sz="1150" i="1" dirty="0">
                <a:solidFill>
                  <a:schemeClr val="tx2"/>
                </a:solidFill>
              </a:rPr>
              <a:t>1K a 10M, 100 repeticiones hasta 10K, 10 en 100K, 3 en 1M y 1 en 10M por tiempo de cómputo.</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Demo: el recorrido de una compra express por las etapas</a:t>
            </a:r>
            <a:endParaRPr lang="en-US" sz="2800" dirty="0"/>
          </a:p>
        </p:txBody>
      </p:sp>
      <p:sp>
        <p:nvSpPr>
          <p:cNvPr id="3" name="Text 1"/>
          <p:cNvSpPr txBox="1"/>
          <p:nvPr/>
        </p:nvSpPr>
        <p:spPr>
          <a:xfrm>
            <a:off x="548640" y="1371600"/>
            <a:ext cx="5852160" cy="4663440"/>
          </a:xfrm>
          <a:prstGeom prst="rect">
            <a:avLst/>
          </a:prstGeom>
          <a:solidFill>
            <a:schemeClr val="bg2"/>
          </a:solidFill>
          <a:ln/>
        </p:spPr>
        <p:txBody>
          <a:bodyPr wrap="square" lIns="2286" tIns="2286" rIns="2286" bIns="2286" rtlCol="0" anchor="t"/>
          <a:lstStyle/>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Event(id=7050005, purchase, product=1326857, user=512393910, price=132.88)</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[S0] encolado (cola=545)</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[S1] válido, normalizado y no duplicado</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[S2] prioridad 0 (compra express), posición 3 de 4917 en el lote</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[S3] producto #46693 y usuario #58009 resueltos en la tabla hash</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[S6] pasa el filtro (Bloom: ausente; CMS bajo el umbral)</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[S4] orden indexada por tiempo en el B+Tree</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[S5] vecinos por atributos (KD-Tree): [108810, 11894, 67409]</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[S7] relacionados LSH: []; vecinos IVF: [180133, 171512, 125502]</a:t>
            </a:r>
            <a:endParaRPr lang="en-US" sz="1100" dirty="0"/>
          </a:p>
          <a:p>
            <a:pPr indent="0" marL="0">
              <a:spcAft>
                <a:spcPts val="500"/>
              </a:spcAft>
              <a:buNone/>
            </a:pPr>
            <a:r>
              <a:rPr lang="en-US" sz="1100" dirty="0">
                <a:solidFill>
                  <a:schemeClr val="tx1"/>
                </a:solidFill>
                <a:latin typeface="Courier New" pitchFamily="34" charset="0"/>
                <a:ea typeface="Courier New" pitchFamily="34" charset="-122"/>
                <a:cs typeface="Courier New" pitchFamily="34" charset="-120"/>
              </a:rPr>
              <a:t>[S8] co-compra con [143273, 99174, 32717] en la misma orden</a:t>
            </a:r>
            <a:endParaRPr lang="en-US" sz="1100" dirty="0"/>
          </a:p>
        </p:txBody>
      </p:sp>
      <p:pic>
        <p:nvPicPr>
          <p:cNvPr id="4" name="Image 0" descr="Panel Streamlit con métricas y recorrido del evento">    </p:cNvPr>
          <p:cNvPicPr>
            <a:picLocks noChangeAspect="1"/>
          </p:cNvPicPr>
          <p:nvPr/>
        </p:nvPicPr>
        <p:blipFill>
          <a:blip r:embed="rId1"/>
          <a:stretch>
            <a:fillRect/>
          </a:stretch>
        </p:blipFill>
        <p:spPr>
          <a:xfrm>
            <a:off x="6583680" y="1371600"/>
            <a:ext cx="5029200" cy="351503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La corrida completa: 10.2M eventos en 23 minutos</a:t>
            </a:r>
            <a:endParaRPr lang="en-US" sz="2800" dirty="0"/>
          </a:p>
        </p:txBody>
      </p:sp>
      <p:graphicFrame>
        <p:nvGraphicFramePr>
          <p:cNvPr id="3" name="Chart 0"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371600"/>
            <a:ext cx="3931920" cy="73152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7,402 ev/s</a:t>
            </a:r>
            <a:endParaRPr lang="en-US" sz="3600" dirty="0"/>
          </a:p>
        </p:txBody>
      </p:sp>
      <p:sp>
        <p:nvSpPr>
          <p:cNvPr id="5" name="Text 2"/>
          <p:cNvSpPr txBox="1"/>
          <p:nvPr/>
        </p:nvSpPr>
        <p:spPr>
          <a:xfrm>
            <a:off x="7680960" y="2121408"/>
            <a:ext cx="3931920" cy="502920"/>
          </a:xfrm>
          <a:prstGeom prst="rect">
            <a:avLst/>
          </a:prstGeom>
          <a:noFill/>
          <a:ln/>
        </p:spPr>
        <p:txBody>
          <a:bodyPr wrap="square" lIns="0" tIns="0" rIns="0" bIns="0" rtlCol="0" anchor="t"/>
          <a:lstStyle/>
          <a:p>
            <a:pPr indent="0" marL="0">
              <a:buNone/>
            </a:pPr>
            <a:r>
              <a:rPr lang="en-US" sz="1250" dirty="0">
                <a:solidFill>
                  <a:schemeClr val="tx2"/>
                </a:solidFill>
              </a:rPr>
              <a:t>de punta a punta en Python, 1 proceso</a:t>
            </a:r>
            <a:endParaRPr lang="en-US" sz="1250" dirty="0"/>
          </a:p>
        </p:txBody>
      </p:sp>
      <p:sp>
        <p:nvSpPr>
          <p:cNvPr id="6" name="Text 3"/>
          <p:cNvSpPr txBox="1"/>
          <p:nvPr/>
        </p:nvSpPr>
        <p:spPr>
          <a:xfrm>
            <a:off x="7680960" y="2697480"/>
            <a:ext cx="393192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254,328</a:t>
            </a:r>
            <a:endParaRPr lang="en-US" sz="3600" dirty="0"/>
          </a:p>
        </p:txBody>
      </p:sp>
      <p:sp>
        <p:nvSpPr>
          <p:cNvPr id="7" name="Text 4"/>
          <p:cNvSpPr txBox="1"/>
          <p:nvPr/>
        </p:nvSpPr>
        <p:spPr>
          <a:xfrm>
            <a:off x="7680960" y="3447288"/>
            <a:ext cx="3931920" cy="502920"/>
          </a:xfrm>
          <a:prstGeom prst="rect">
            <a:avLst/>
          </a:prstGeom>
          <a:noFill/>
          <a:ln/>
        </p:spPr>
        <p:txBody>
          <a:bodyPr wrap="square" lIns="0" tIns="0" rIns="0" bIns="0" rtlCol="0" anchor="t"/>
          <a:lstStyle/>
          <a:p>
            <a:pPr indent="0" marL="0">
              <a:buNone/>
            </a:pPr>
            <a:r>
              <a:rPr lang="en-US" sz="1250" dirty="0">
                <a:solidFill>
                  <a:schemeClr val="tx2"/>
                </a:solidFill>
              </a:rPr>
              <a:t>órdenes en el B+Tree en disco, altura 3</a:t>
            </a:r>
            <a:endParaRPr lang="en-US" sz="1250" dirty="0"/>
          </a:p>
        </p:txBody>
      </p:sp>
      <p:sp>
        <p:nvSpPr>
          <p:cNvPr id="8" name="Text 5"/>
          <p:cNvSpPr txBox="1"/>
          <p:nvPr/>
        </p:nvSpPr>
        <p:spPr>
          <a:xfrm>
            <a:off x="7680960" y="4023360"/>
            <a:ext cx="3931920" cy="73152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64,923</a:t>
            </a:r>
            <a:endParaRPr lang="en-US" sz="3600" dirty="0"/>
          </a:p>
        </p:txBody>
      </p:sp>
      <p:sp>
        <p:nvSpPr>
          <p:cNvPr id="9" name="Text 6"/>
          <p:cNvSpPr txBox="1"/>
          <p:nvPr/>
        </p:nvSpPr>
        <p:spPr>
          <a:xfrm>
            <a:off x="7680960" y="4773168"/>
            <a:ext cx="3931920" cy="502920"/>
          </a:xfrm>
          <a:prstGeom prst="rect">
            <a:avLst/>
          </a:prstGeom>
          <a:noFill/>
          <a:ln/>
        </p:spPr>
        <p:txBody>
          <a:bodyPr wrap="square" lIns="0" tIns="0" rIns="0" bIns="0" rtlCol="0" anchor="t"/>
          <a:lstStyle/>
          <a:p>
            <a:pPr indent="0" marL="0">
              <a:buNone/>
            </a:pPr>
            <a:r>
              <a:rPr lang="en-US" sz="1250" dirty="0">
                <a:solidFill>
                  <a:schemeClr val="tx2"/>
                </a:solidFill>
              </a:rPr>
              <a:t>eventos de fraude bloqueados antes de llegar a S4</a:t>
            </a:r>
            <a:endParaRPr lang="en-US" sz="1250" dirty="0"/>
          </a:p>
        </p:txBody>
      </p:sp>
      <p:sp>
        <p:nvSpPr>
          <p:cNvPr id="10" name="Text 7"/>
          <p:cNvSpPr txBox="1"/>
          <p:nvPr/>
        </p:nvSpPr>
        <p:spPr>
          <a:xfrm>
            <a:off x="7680960" y="5349240"/>
            <a:ext cx="3931920" cy="822960"/>
          </a:xfrm>
          <a:prstGeom prst="rect">
            <a:avLst/>
          </a:prstGeom>
          <a:noFill/>
          <a:ln/>
        </p:spPr>
        <p:txBody>
          <a:bodyPr wrap="square" lIns="0" tIns="0" rIns="0" bIns="0" rtlCol="0" anchor="t"/>
          <a:lstStyle/>
          <a:p>
            <a:pPr indent="0" marL="0">
              <a:buNone/>
            </a:pPr>
            <a:r>
              <a:rPr lang="en-US" sz="1250" i="1" dirty="0">
                <a:solidFill>
                  <a:schemeClr val="tx2"/>
                </a:solidFill>
              </a:rPr>
              <a:t>El refresco de S7 (SVD + k-means sobre 200K productos) domina el tiempo: es el primer candidato a paralelizar.</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bg1"/>
                </a:solidFill>
              </a:rPr>
              <a:t>Conclusiones</a:t>
            </a:r>
            <a:endParaRPr lang="en-US" sz="2800" dirty="0"/>
          </a:p>
        </p:txBody>
      </p:sp>
      <p:sp>
        <p:nvSpPr>
          <p:cNvPr id="3" name="insignia 1"/>
          <p:cNvSpPr/>
          <p:nvPr/>
        </p:nvSpPr>
        <p:spPr>
          <a:xfrm>
            <a:off x="548640" y="1463040"/>
            <a:ext cx="502920" cy="502920"/>
          </a:xfrm>
          <a:prstGeom prst="roundRect">
            <a:avLst>
              <a:gd name="adj" fmla="val 21818"/>
            </a:avLst>
          </a:prstGeom>
          <a:solidFill>
            <a:schemeClr val="accent1"/>
          </a:solidFill>
          <a:ln w="12700">
            <a:solidFill>
              <a:schemeClr val="accent1"/>
            </a:solidFill>
            <a:prstDash val="solid"/>
          </a:ln>
        </p:spPr>
      </p:sp>
      <p:sp>
        <p:nvSpPr>
          <p:cNvPr id="4" name="texto insignia 1"/>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Text 3"/>
          <p:cNvSpPr txBox="1"/>
          <p:nvPr/>
        </p:nvSpPr>
        <p:spPr>
          <a:xfrm>
            <a:off x="1280160" y="1417320"/>
            <a:ext cx="4572000" cy="5943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La integración funciona</a:t>
            </a:r>
            <a:endParaRPr lang="en-US" sz="1900" dirty="0"/>
          </a:p>
        </p:txBody>
      </p:sp>
      <p:sp>
        <p:nvSpPr>
          <p:cNvPr id="6" name="Text 4"/>
          <p:cNvSpPr txBox="1"/>
          <p:nvPr/>
        </p:nvSpPr>
        <p:spPr>
          <a:xfrm>
            <a:off x="1280160" y="2057400"/>
            <a:ext cx="4572000" cy="1280160"/>
          </a:xfrm>
          <a:prstGeom prst="rect">
            <a:avLst/>
          </a:prstGeom>
          <a:noFill/>
          <a:ln/>
        </p:spPr>
        <p:txBody>
          <a:bodyPr wrap="square" lIns="0" tIns="0" rIns="0" bIns="0" rtlCol="0" anchor="t"/>
          <a:lstStyle/>
          <a:p>
            <a:pPr indent="0" marL="0">
              <a:buNone/>
            </a:pPr>
            <a:r>
              <a:rPr lang="en-US" sz="1400" dirty="0">
                <a:solidFill>
                  <a:schemeClr val="accent6"/>
                </a:solidFill>
              </a:rPr>
              <a:t>Un mismo evento atraviesa las 10 etapas y cada salida es la entrada de la siguiente, comprobado con una prueba automática.</a:t>
            </a:r>
            <a:endParaRPr lang="en-US" sz="1400" dirty="0"/>
          </a:p>
        </p:txBody>
      </p:sp>
      <p:sp>
        <p:nvSpPr>
          <p:cNvPr id="7" name="insignia 2"/>
          <p:cNvSpPr/>
          <p:nvPr/>
        </p:nvSpPr>
        <p:spPr>
          <a:xfrm>
            <a:off x="6172200" y="1463040"/>
            <a:ext cx="502920" cy="502920"/>
          </a:xfrm>
          <a:prstGeom prst="roundRect">
            <a:avLst>
              <a:gd name="adj" fmla="val 21818"/>
            </a:avLst>
          </a:prstGeom>
          <a:solidFill>
            <a:schemeClr val="accent2"/>
          </a:solidFill>
          <a:ln w="12700">
            <a:solidFill>
              <a:schemeClr val="accent2"/>
            </a:solidFill>
            <a:prstDash val="solid"/>
          </a:ln>
        </p:spPr>
      </p:sp>
      <p:sp>
        <p:nvSpPr>
          <p:cNvPr id="8" name="texto insignia 2"/>
          <p:cNvSpPr txBox="1"/>
          <p:nvPr/>
        </p:nvSpPr>
        <p:spPr>
          <a:xfrm>
            <a:off x="6172200" y="1463040"/>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7"/>
          <p:cNvSpPr txBox="1"/>
          <p:nvPr/>
        </p:nvSpPr>
        <p:spPr>
          <a:xfrm>
            <a:off x="6903720" y="1417320"/>
            <a:ext cx="4572000" cy="5943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Lo aproximado paga</a:t>
            </a:r>
            <a:endParaRPr lang="en-US" sz="1900" dirty="0"/>
          </a:p>
        </p:txBody>
      </p:sp>
      <p:sp>
        <p:nvSpPr>
          <p:cNvPr id="10" name="Text 8"/>
          <p:cNvSpPr txBox="1"/>
          <p:nvPr/>
        </p:nvSpPr>
        <p:spPr>
          <a:xfrm>
            <a:off x="6903720" y="2057400"/>
            <a:ext cx="4572000" cy="1280160"/>
          </a:xfrm>
          <a:prstGeom prst="rect">
            <a:avLst/>
          </a:prstGeom>
          <a:noFill/>
          <a:ln/>
        </p:spPr>
        <p:txBody>
          <a:bodyPr wrap="square" lIns="0" tIns="0" rIns="0" bIns="0" rtlCol="0" anchor="t"/>
          <a:lstStyle/>
          <a:p>
            <a:pPr indent="0" marL="0">
              <a:buNone/>
            </a:pPr>
            <a:r>
              <a:rPr lang="en-US" sz="1400" dirty="0">
                <a:solidFill>
                  <a:schemeClr val="accent6"/>
                </a:solidFill>
              </a:rPr>
              <a:t>Bloom y Count-Min detectan fraude con kilobytes; LSH e IVF responden órdenes de magnitud más rápido con recall alto.</a:t>
            </a:r>
            <a:endParaRPr lang="en-US" sz="1400" dirty="0"/>
          </a:p>
        </p:txBody>
      </p:sp>
      <p:sp>
        <p:nvSpPr>
          <p:cNvPr id="11" name="insignia 3"/>
          <p:cNvSpPr/>
          <p:nvPr/>
        </p:nvSpPr>
        <p:spPr>
          <a:xfrm>
            <a:off x="548640" y="3794760"/>
            <a:ext cx="502920" cy="502920"/>
          </a:xfrm>
          <a:prstGeom prst="roundRect">
            <a:avLst>
              <a:gd name="adj" fmla="val 21818"/>
            </a:avLst>
          </a:prstGeom>
          <a:solidFill>
            <a:schemeClr val="accent3"/>
          </a:solidFill>
          <a:ln w="12700">
            <a:solidFill>
              <a:schemeClr val="accent3"/>
            </a:solidFill>
            <a:prstDash val="solid"/>
          </a:ln>
        </p:spPr>
      </p:sp>
      <p:sp>
        <p:nvSpPr>
          <p:cNvPr id="12" name="texto insignia 3"/>
          <p:cNvSpPr txBox="1"/>
          <p:nvPr/>
        </p:nvSpPr>
        <p:spPr>
          <a:xfrm>
            <a:off x="548640" y="3794760"/>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1"/>
          <p:cNvSpPr txBox="1"/>
          <p:nvPr/>
        </p:nvSpPr>
        <p:spPr>
          <a:xfrm>
            <a:off x="1280160" y="3749040"/>
            <a:ext cx="4572000" cy="5943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Las pendientes confirman la teoría</a:t>
            </a:r>
            <a:endParaRPr lang="en-US" sz="1900" dirty="0"/>
          </a:p>
        </p:txBody>
      </p:sp>
      <p:sp>
        <p:nvSpPr>
          <p:cNvPr id="14" name="Text 12"/>
          <p:cNvSpPr txBox="1"/>
          <p:nvPr/>
        </p:nvSpPr>
        <p:spPr>
          <a:xfrm>
            <a:off x="1280160" y="4389120"/>
            <a:ext cx="4572000" cy="1280160"/>
          </a:xfrm>
          <a:prstGeom prst="rect">
            <a:avLst/>
          </a:prstGeom>
          <a:noFill/>
          <a:ln/>
        </p:spPr>
        <p:txBody>
          <a:bodyPr wrap="square" lIns="0" tIns="0" rIns="0" bIns="0" rtlCol="0" anchor="t"/>
          <a:lstStyle/>
          <a:p>
            <a:pPr indent="0" marL="0">
              <a:buNone/>
            </a:pPr>
            <a:r>
              <a:rPr lang="en-US" sz="1400" dirty="0">
                <a:solidFill>
                  <a:schemeClr val="accent6"/>
                </a:solidFill>
              </a:rPr>
              <a:t>Lineal donde se espera O(n), casi plano en B+Tree y KD-Tree, lineal en fuerza bruta.</a:t>
            </a:r>
            <a:endParaRPr lang="en-US" sz="1400" dirty="0"/>
          </a:p>
        </p:txBody>
      </p:sp>
      <p:sp>
        <p:nvSpPr>
          <p:cNvPr id="15" name="insignia 4"/>
          <p:cNvSpPr/>
          <p:nvPr/>
        </p:nvSpPr>
        <p:spPr>
          <a:xfrm>
            <a:off x="6172200" y="3794760"/>
            <a:ext cx="502920" cy="502920"/>
          </a:xfrm>
          <a:prstGeom prst="roundRect">
            <a:avLst>
              <a:gd name="adj" fmla="val 21818"/>
            </a:avLst>
          </a:prstGeom>
          <a:solidFill>
            <a:schemeClr val="accent4"/>
          </a:solidFill>
          <a:ln w="12700">
            <a:solidFill>
              <a:schemeClr val="accent4"/>
            </a:solidFill>
            <a:prstDash val="solid"/>
          </a:ln>
        </p:spPr>
      </p:sp>
      <p:sp>
        <p:nvSpPr>
          <p:cNvPr id="16" name="texto insignia 4"/>
          <p:cNvSpPr txBox="1"/>
          <p:nvPr/>
        </p:nvSpPr>
        <p:spPr>
          <a:xfrm>
            <a:off x="6172200" y="3794760"/>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15"/>
          <p:cNvSpPr txBox="1"/>
          <p:nvPr/>
        </p:nvSpPr>
        <p:spPr>
          <a:xfrm>
            <a:off x="6903720" y="3749040"/>
            <a:ext cx="4572000" cy="5943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Siguiente paso</a:t>
            </a:r>
            <a:endParaRPr lang="en-US" sz="1900" dirty="0"/>
          </a:p>
        </p:txBody>
      </p:sp>
      <p:sp>
        <p:nvSpPr>
          <p:cNvPr id="18" name="Text 16"/>
          <p:cNvSpPr txBox="1"/>
          <p:nvPr/>
        </p:nvSpPr>
        <p:spPr>
          <a:xfrm>
            <a:off x="6903720" y="4389120"/>
            <a:ext cx="4572000" cy="1280160"/>
          </a:xfrm>
          <a:prstGeom prst="rect">
            <a:avLst/>
          </a:prstGeom>
          <a:noFill/>
          <a:ln/>
        </p:spPr>
        <p:txBody>
          <a:bodyPr wrap="square" lIns="0" tIns="0" rIns="0" bIns="0" rtlCol="0" anchor="t"/>
          <a:lstStyle/>
          <a:p>
            <a:pPr indent="0" marL="0">
              <a:buNone/>
            </a:pPr>
            <a:r>
              <a:rPr lang="en-US" sz="1400" dirty="0">
                <a:solidFill>
                  <a:schemeClr val="accent6"/>
                </a:solidFill>
              </a:rPr>
              <a:t>Correr sobre REES46 real, paralelizar el refresco de S7 y probar Leiden frente a Louvain.</a:t>
            </a:r>
            <a:endParaRPr lang="en-US" sz="1400" dirty="0"/>
          </a:p>
        </p:txBody>
      </p:sp>
      <p:sp>
        <p:nvSpPr>
          <p:cNvPr id="19" name="Text 17"/>
          <p:cNvSpPr txBox="1"/>
          <p:nvPr/>
        </p:nvSpPr>
        <p:spPr>
          <a:xfrm>
            <a:off x="548640" y="6217920"/>
            <a:ext cx="7315200" cy="365760"/>
          </a:xfrm>
          <a:prstGeom prst="rect">
            <a:avLst/>
          </a:prstGeom>
          <a:noFill/>
          <a:ln/>
        </p:spPr>
        <p:txBody>
          <a:bodyPr wrap="square" lIns="0" tIns="0" rIns="0" bIns="0" rtlCol="0" anchor="ctr"/>
          <a:lstStyle/>
          <a:p>
            <a:pPr indent="0" marL="0">
              <a:buNone/>
            </a:pPr>
            <a:r>
              <a:rPr lang="en-US" sz="1200" dirty="0">
                <a:solidFill>
                  <a:schemeClr val="accent6"/>
                </a:solidFill>
              </a:rPr>
              <a:t>github.com/dantebarreto-gif/Proyecto-Final-E-AD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tream Comercio">
  <a:themeElements>
    <a:clrScheme name="Stream Comercio">
      <a:dk1>
        <a:srgbClr val="1B1F3B"/>
      </a:dk1>
      <a:lt1>
        <a:srgbClr val="FFFFFF"/>
      </a:lt1>
      <a:dk2>
        <a:srgbClr val="3A3F5C"/>
      </a:dk2>
      <a:lt2>
        <a:srgbClr val="F5F3EE"/>
      </a:lt2>
      <a:accent1>
        <a:srgbClr val="2A78D6"/>
      </a:accent1>
      <a:accent2>
        <a:srgbClr val="EB6834"/>
      </a:accent2>
      <a:accent3>
        <a:srgbClr val="1BAF7A"/>
      </a:accent3>
      <a:accent4>
        <a:srgbClr val="6250D6"/>
      </a:accent4>
      <a:accent5>
        <a:srgbClr val="E87BA4"/>
      </a:accent5>
      <a:accent6>
        <a:srgbClr val="C9C4B8"/>
      </a:accent6>
      <a:hlink>
        <a:srgbClr val="2A78D6"/>
      </a:hlink>
      <a:folHlink>
        <a:srgbClr val="6250D6"/>
      </a:folHlink>
    </a:clrScheme>
    <a:fontScheme name="Stream Comerc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de data streams para comercio electrónico</dc:title>
  <dc:subject>Proyecto Final EDA 2026-2, UTEC</dc:subject>
  <dc:creator>Garcia, Barreto, Chulluncuy, Hilario</dc:creator>
  <cp:lastModifiedBy>Garcia, Barreto, Chulluncuy, Hilario</cp:lastModifiedBy>
  <cp:revision>1</cp:revision>
  <dcterms:created xsi:type="dcterms:W3CDTF">2026-10-23T06:20:18Z</dcterms:created>
  <dcterms:modified xsi:type="dcterms:W3CDTF">2026-10-23T06:20:18Z</dcterms:modified>
</cp:coreProperties>
</file>